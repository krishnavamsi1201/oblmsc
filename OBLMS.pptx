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966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en-IN" i="1" dirty="0">
                <a:latin typeface="Algerian" panose="04020705040A02060702" pitchFamily="82" charset="0"/>
              </a:rPr>
              <a:t>SIDDHI:</a:t>
            </a:r>
            <a:r>
              <a:rPr i="1" dirty="0">
                <a:latin typeface="Algerian" panose="04020705040A02060702" pitchFamily="82" charset="0"/>
              </a:rPr>
              <a:t>Outcome-Based Learning Management &amp;</a:t>
            </a:r>
            <a:br>
              <a:rPr i="1" dirty="0">
                <a:latin typeface="Algerian" panose="04020705040A02060702" pitchFamily="82" charset="0"/>
              </a:rPr>
            </a:br>
            <a:r>
              <a:rPr i="1" dirty="0">
                <a:latin typeface="Algerian" panose="04020705040A02060702" pitchFamily="82" charset="0"/>
              </a:rPr>
              <a:t>Accreditation Governance System (OBLMS)</a:t>
            </a:r>
          </a:p>
          <a:p>
            <a:pPr>
              <a:defRPr sz="1500">
                <a:solidFill>
                  <a:srgbClr val="38BDF8"/>
                </a:solidFill>
                <a:latin typeface="Calibri"/>
              </a:defRPr>
            </a:pPr>
            <a:r>
              <a:rPr lang="en-IN" sz="2400" dirty="0">
                <a:latin typeface="Castellar" panose="020A0402060406010301" pitchFamily="18" charset="0"/>
              </a:rPr>
              <a:t>                DOMAIN- SOFTWARE TECHNOLOGY</a:t>
            </a:r>
            <a:endParaRPr sz="2400" dirty="0">
              <a:latin typeface="Castellar" panose="020A0402060406010301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6024" y="3429000"/>
            <a:ext cx="5174736" cy="2251219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latin typeface="Lucida Handwriting" panose="03010101010101010101" pitchFamily="66" charset="0"/>
              </a:rPr>
              <a:t>Malla Loukika-240101120034</a:t>
            </a:r>
          </a:p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2000" dirty="0" err="1">
                <a:latin typeface="Lucida Handwriting" panose="03010101010101010101" pitchFamily="66" charset="0"/>
              </a:rPr>
              <a:t>Dandela</a:t>
            </a:r>
            <a:r>
              <a:rPr lang="en-IN" sz="2000" dirty="0">
                <a:latin typeface="Lucida Handwriting" panose="03010101010101010101" pitchFamily="66" charset="0"/>
              </a:rPr>
              <a:t> Naga Krishna Vamsi-240101120041</a:t>
            </a:r>
          </a:p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2000" dirty="0" err="1">
                <a:latin typeface="Lucida Handwriting" panose="03010101010101010101" pitchFamily="66" charset="0"/>
              </a:rPr>
              <a:t>Taddi</a:t>
            </a:r>
            <a:r>
              <a:rPr lang="en-IN" sz="2000" dirty="0">
                <a:latin typeface="Lucida Handwriting" panose="03010101010101010101" pitchFamily="66" charset="0"/>
              </a:rPr>
              <a:t> Santosh Vardhan-240101120021</a:t>
            </a:r>
            <a:endParaRPr sz="2000" dirty="0">
              <a:latin typeface="Lucida Handwriting" panose="03010101010101010101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04FF1-8E7F-353B-4FD9-0BC61D5C21FA}"/>
              </a:ext>
            </a:extLst>
          </p:cNvPr>
          <p:cNvSpPr txBox="1"/>
          <p:nvPr/>
        </p:nvSpPr>
        <p:spPr>
          <a:xfrm>
            <a:off x="2317446" y="3516213"/>
            <a:ext cx="265722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lgerian" panose="04020705040A02060702" pitchFamily="82" charset="0"/>
              </a:rPr>
              <a:t>    </a:t>
            </a:r>
            <a:r>
              <a:rPr lang="en-IN" dirty="0">
                <a:solidFill>
                  <a:schemeClr val="bg1"/>
                </a:solidFill>
                <a:latin typeface="Lucida Handwriting" panose="03010101010101010101" pitchFamily="66" charset="0"/>
              </a:rPr>
              <a:t>TEAM MEMBERS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D45F061-21B7-D230-AFA3-C6ACE2C54222}"/>
              </a:ext>
            </a:extLst>
          </p:cNvPr>
          <p:cNvSpPr/>
          <p:nvPr/>
        </p:nvSpPr>
        <p:spPr>
          <a:xfrm>
            <a:off x="6088273" y="3386183"/>
            <a:ext cx="5174737" cy="2251219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latin typeface="Lucida Handwriting" panose="03010101010101010101" pitchFamily="66" charset="0"/>
              </a:rPr>
              <a:t>Guided By-</a:t>
            </a:r>
          </a:p>
          <a:p>
            <a:pPr algn="ctr"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latin typeface="Lucida Handwriting" panose="03010101010101010101" pitchFamily="66" charset="0"/>
              </a:rPr>
              <a:t>Prof. </a:t>
            </a:r>
            <a:r>
              <a:rPr lang="en-IN" sz="2000">
                <a:latin typeface="Lucida Handwriting" panose="03010101010101010101" pitchFamily="66" charset="0"/>
              </a:rPr>
              <a:t>Manoj Kumar Padhy</a:t>
            </a:r>
            <a:br>
              <a:rPr lang="en-IN" sz="2000" dirty="0">
                <a:latin typeface="Lucida Handwriting" panose="03010101010101010101" pitchFamily="66" charset="0"/>
              </a:rPr>
            </a:br>
            <a:r>
              <a:rPr lang="en-IN" sz="2000" dirty="0" err="1">
                <a:latin typeface="Lucida Handwriting" panose="03010101010101010101" pitchFamily="66" charset="0"/>
              </a:rPr>
              <a:t>Prof.Biswaranjan</a:t>
            </a:r>
            <a:r>
              <a:rPr lang="en-IN" sz="2000" dirty="0">
                <a:latin typeface="Lucida Handwriting" panose="03010101010101010101" pitchFamily="66" charset="0"/>
              </a:rPr>
              <a:t> Routray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🌍 Real-World Context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Outcome-Based Education (OBE) is mandatory for NBA Tier-1 and NAAC accreditations.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Institutions must quantify student learning outcomes and map exams to CO-PO benchmarks.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Manual tracking in spreadsheets creates massive friction and calculation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👥 Core Stakeholders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Chief Administrator / Dean: Sets global grading weights &amp; exports NBA SAR reports.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Teaching Faculty: Manages subject workloads, grades exams &amp; maps questions to COs.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Enrolled Students: Views dynamic SGPA/CGPA marksheets &amp; official PDF transcripts.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rtlCol="0" anchor="ctr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💻 The Solution: OBLMS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Enterprise single-page web application built with Angular 18 and Java/Spring Boot.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Automates curriculum allocation, weighted grading, SGPA/CGPA, and SAR reporting.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Features real-time state synchronization across browser tabs with zero 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F87171"/>
                </a:solidFill>
                <a:latin typeface="Calibri"/>
              </a:defRPr>
            </a:pPr>
            <a:r>
              <a:t>⚠️ Existing Process Limitations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Fragmented Excel Files: Marks stored in separate spreadsheets across teachers cause data loss and inconsistency.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Complex Manual Formulas: Calculating 40% CIE / 60% SEE weighted marks and 12-PO vectors by hand takes hundreds of hours.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No Real-Time Visibility: HODs lack a centralized dashboard to track faculty workloads and unassigned subjects.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Delayed Accreditation Reports: Consolidating student dossiers for NBA/NAAC inspection takes weeks of emergency effort.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🎯 The Engineering Objective</a:t>
            </a:r>
          </a:p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"To replace manual spreadsheets with a unified, reactive web platform that automates multi-department curriculum allocation, calculates live SGPA/CGPA marksheets, and compiles instant NBA SAR dossiers with zero human error."</a:t>
            </a:r>
          </a:p>
          <a:p>
            <a:br/>
            <a:r>
              <a:t>Target Quality Goals: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Zero calculation errors across 8 semesters and 6 departments.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Sub-second sync between mark entry and student transcripts.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Instant one-click official PDF and CSV dossier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 Objectives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Automated OBE Attainment Engine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Compute direct/indirect Course Outcome (CO) and 12-Program Outcome (PO) matrices based on custom threshold benchmarks (e.g. 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2. Dual-View Faculty Workload Deck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Provide interactive workload governance (By Faculty Deck &amp; By Branch/Semester Matrix) across 6 branches (CSE, IT, ECE, ME, CE, EEE).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3. Student Results &amp; Marksheet System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Implement Master-Detail expandable student cards with live SGPA/CGPA calculations and single-click official PDF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4. Instant Accreditation Reporting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an automated NBA SAR Criterion 3 and NAAC 2.6 report generator with real-time filters, search, and CSV/JSON/PDF downloads.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5. Existing System vs Proposed System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Operational Area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Manual Existing System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Proposed OBLMS Platform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Curriculum &amp; Allotment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Standalone Word/Excel files per branch.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Centralized Dual-View Faculty Workload Deck.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OBE Mark Evaluation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Manual 40/60 weight math on paper.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Automated CIE/SEE calculation &amp; instant grades.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Results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Flat noticeboard lists with repeat rows.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Master-Detail expandable cards with SGPA/CGPA.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Accreditation Dossiers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Weeks of manual compilation before visit.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One-click NBA SAR Criterion 3 &amp; NAAC 2.6 PDF/CSV.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9373" y="80010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6. Proposed System Architecture &amp; Workflow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99373" y="22174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rPr dirty="0"/>
              <a:t>Step 1: Curriculum &amp; Policy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Admin sets academic session (2026-27).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Configures CIE/SEE weights (40/60%).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Establishes CO target threshold (75%).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9807" y="22174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rPr dirty="0"/>
              <a:t>Step 2: Workload Allotment</a:t>
            </a:r>
          </a:p>
          <a:p>
            <a:pPr lvl="0"/>
            <a:r>
              <a:rPr dirty="0"/>
              <a:t> </a:t>
            </a:r>
            <a:r>
              <a:rPr lang="en-IN" sz="1400" dirty="0"/>
              <a:t>• Admin allocates courses &amp; subjects to respective faculty.</a:t>
            </a:r>
          </a:p>
          <a:p>
            <a:pPr lvl="0"/>
            <a:r>
              <a:rPr lang="en-IN" sz="1400" dirty="0"/>
              <a:t>• Covers 6 engineering branches (CSE, IT, ECE, ME, CE, EEE).</a:t>
            </a:r>
          </a:p>
          <a:p>
            <a:pPr lvl="0"/>
            <a:r>
              <a:rPr lang="en-IN" sz="1400" dirty="0"/>
              <a:t>• System automatically computes faculty weekly contact hours &amp; credits.</a:t>
            </a:r>
            <a:endParaRPr lang="en-IN" sz="1400" dirty="0">
              <a:effectLst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71183" y="22174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rPr dirty="0"/>
              <a:t>Step 3: Continuous Grading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Faculty records internal CIE &amp; final SEE marks.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Marks map directly to Course Outcomes.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Instant validation prevents out-of-range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61617" y="22174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rPr dirty="0"/>
              <a:t>Step 4: Automated Output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Engine computes SGPA, CGPA &amp; standings.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Generates expandable student marksheets.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Exports compliant NBA SAR dossiers.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7. Scope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rPr dirty="0"/>
              <a:t>✅ Implemented Features (In Scope)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Role-Based Governance: Admin, Faculty, and Student portals with Angular Route Guards.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Dual-View Faculty Workload Deck: Workload cards with contact hours, credits, and branch matrix.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Expandable Results Deck: Student cards with SGPA/CGPA and one-click PDF transcript export.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NBA/NAAC Reports Generator: Multi-parameter query filters, pagination, and CSV/JSON export.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Global Policy Controls: Interactive CIE/SEE weight ratio sliders and CO target benchmarks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rPr dirty="0"/>
              <a:t>🚀 Future Roadmap (Outside Current Scope)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• </a:t>
            </a:r>
            <a:r>
              <a:rPr sz="1400" dirty="0"/>
              <a:t>Mobile Applications: Native Flutter / React Native mobile apps for student push alerts.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AI Question Synthesis: Generative AI exam paper generation with Bloom's Taxonomy tagging.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Biometric &amp; RFID Attendance: Hardware IoT sensors for physical classroom attendance logging.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sz="1400" dirty="0"/>
              <a:t>• University ERP Bridge: Integration with university fee payment and finance accounting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8. Technology Stack &amp; Tooling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Engineering Layers, Libraries, Languages, and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38BDF8"/>
                </a:solidFill>
                <a:latin typeface="Calibri"/>
              </a:defRPr>
            </a:pPr>
            <a:r>
              <a:rPr sz="1600" dirty="0"/>
              <a:t>🎨 Frontend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Framework: Angular 18 Standalone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Language: TypeScript 5.4 / JS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Theme: Dark Luxury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60A5FA"/>
                </a:solidFill>
                <a:latin typeface="Calibri"/>
              </a:defRPr>
            </a:pPr>
            <a:r>
              <a:rPr sz="1600" dirty="0"/>
              <a:t>⚙️ Backend &amp; APIs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Platform: Java 17 / Spring Boot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Architecture: RESTful JSON APIs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Client: Angular </a:t>
            </a:r>
            <a:r>
              <a:rPr sz="1600" dirty="0" err="1"/>
              <a:t>HttpClient</a:t>
            </a:r>
            <a:endParaRPr sz="1600" dirty="0"/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Sync Bus: </a:t>
            </a:r>
            <a:r>
              <a:rPr sz="1600" dirty="0" err="1"/>
              <a:t>SyncService</a:t>
            </a:r>
            <a:r>
              <a:rPr sz="1600" dirty="0"/>
              <a:t> Broadcast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Security: Role-Based Route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4ADE80"/>
                </a:solidFill>
                <a:latin typeface="Calibri"/>
              </a:defRPr>
            </a:pPr>
            <a:r>
              <a:rPr sz="1600" dirty="0"/>
              <a:t>💾 Database &amp; Cache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Database: MySQL 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Client Cache: </a:t>
            </a:r>
            <a:r>
              <a:rPr sz="1600" dirty="0" err="1"/>
              <a:t>LocalStorage</a:t>
            </a:r>
            <a:r>
              <a:rPr sz="1600" dirty="0"/>
              <a:t> Sync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Data Models: TypeScript 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Export: CSV Streams, JSON,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rtlCol="0" anchor="ctr"/>
          <a:lstStyle/>
          <a:p>
            <a:pPr algn="ctr">
              <a:lnSpc>
                <a:spcPct val="150000"/>
              </a:lnSpc>
              <a:defRPr sz="1600" b="1">
                <a:solidFill>
                  <a:srgbClr val="D4AF37"/>
                </a:solidFill>
                <a:latin typeface="Calibri"/>
              </a:defRPr>
            </a:pPr>
            <a:r>
              <a:rPr sz="1600" dirty="0"/>
              <a:t>🛠️ Tools &amp; DevOps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IDE: Visual Studio Code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Versioning: Git &amp; GitHub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Package: Node.js 20+ &amp; </a:t>
            </a:r>
            <a:r>
              <a:rPr sz="1600" dirty="0" err="1"/>
              <a:t>npm</a:t>
            </a:r>
            <a:endParaRPr sz="1600" dirty="0"/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Verification: Production Build (0 errors)</a:t>
            </a:r>
          </a:p>
          <a:p>
            <a:pPr>
              <a:lnSpc>
                <a:spcPct val="150000"/>
              </a:lnSpc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/>
              <a:t>Target: Modern Web Browsers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9.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80744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r>
              <a:rPr lang="en-IN" sz="1600" b="1" dirty="0"/>
              <a:t>                                                                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Layer 1: Presentation Layer (Angular 18 Single Page App)</a:t>
            </a:r>
          </a:p>
          <a:p>
            <a:pPr lvl="0"/>
            <a:r>
              <a:rPr lang="en-IN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Role-Based Portals</a:t>
            </a:r>
            <a:r>
              <a:rPr lang="en-IN" sz="1400" b="1" dirty="0"/>
              <a:t>:</a:t>
            </a:r>
            <a:r>
              <a:rPr lang="en-IN" sz="1400" dirty="0"/>
              <a:t> Admin Governance Console, Faculty Command </a:t>
            </a:r>
            <a:r>
              <a:rPr lang="en-IN" sz="1400" dirty="0" err="1"/>
              <a:t>Center</a:t>
            </a:r>
            <a:r>
              <a:rPr lang="en-IN" sz="1400" dirty="0"/>
              <a:t>, Student Marksheet &amp; Timetable Hub.</a:t>
            </a:r>
          </a:p>
          <a:p>
            <a:pPr lvl="0"/>
            <a:r>
              <a:rPr lang="en-IN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Smart Modules</a:t>
            </a:r>
            <a:r>
              <a:rPr lang="en-IN" sz="1400" b="1" dirty="0"/>
              <a:t>:</a:t>
            </a:r>
            <a:r>
              <a:rPr lang="en-IN" sz="1400" dirty="0"/>
              <a:t> AI Assistant Chatbot (Gemini Integration), Real-Time Attendance &amp; Question Bank.</a:t>
            </a:r>
          </a:p>
          <a:p>
            <a:pPr lvl="0"/>
            <a:r>
              <a:rPr lang="en-IN" sz="14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Tech Stack</a:t>
            </a:r>
            <a:r>
              <a:rPr lang="en-IN" sz="1400" b="1" dirty="0"/>
              <a:t>:</a:t>
            </a:r>
            <a:r>
              <a:rPr lang="en-IN" sz="1400" dirty="0"/>
              <a:t> Standalone Components, Material Icons, Responsive Luxury Dark UI.</a:t>
            </a:r>
            <a:endParaRPr lang="en-IN" sz="1400" dirty="0">
              <a:effectLst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rPr dirty="0"/>
              <a:t>2. Client Service &amp; Reactive State Layer</a:t>
            </a:r>
          </a:p>
          <a:p>
            <a:pPr lvl="0"/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Core Services</a:t>
            </a:r>
            <a:r>
              <a:rPr lang="en-IN" sz="1400" b="1" dirty="0"/>
              <a:t>:</a:t>
            </a:r>
            <a:r>
              <a:rPr lang="en-IN" sz="1400" dirty="0"/>
              <a:t> </a:t>
            </a:r>
            <a:r>
              <a:rPr lang="en-IN" sz="1400" dirty="0" err="1"/>
              <a:t>SyncService</a:t>
            </a:r>
            <a:r>
              <a:rPr lang="en-IN" sz="1400" dirty="0"/>
              <a:t> (Cross-Tab State Broadcast), </a:t>
            </a:r>
            <a:r>
              <a:rPr lang="en-IN" sz="1400" dirty="0" err="1"/>
              <a:t>AuthService</a:t>
            </a:r>
            <a:r>
              <a:rPr lang="en-IN" sz="1400" dirty="0"/>
              <a:t> (Role Guards &amp; Route Security), </a:t>
            </a:r>
            <a:r>
              <a:rPr lang="en-IN" sz="1400" dirty="0" err="1"/>
              <a:t>ExportService</a:t>
            </a:r>
            <a:r>
              <a:rPr lang="en-IN" sz="1400" dirty="0"/>
              <a:t> (Instant PDF/CSV).</a:t>
            </a:r>
          </a:p>
          <a:p>
            <a:pPr lvl="0"/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OBE Client Engine</a:t>
            </a:r>
            <a:r>
              <a:rPr lang="en-IN" sz="1400" b="1" dirty="0"/>
              <a:t>:</a:t>
            </a:r>
            <a:r>
              <a:rPr lang="en-IN" sz="1400" dirty="0"/>
              <a:t> Dynamic CIE/SEE (40:60) Weightage, SGPA/CGPA live recalculation, 12-PO Matrix Radar computation.</a:t>
            </a:r>
          </a:p>
          <a:p>
            <a:pPr lvl="0"/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Tech Stack</a:t>
            </a:r>
            <a:r>
              <a:rPr lang="en-IN" sz="1400" b="1" dirty="0"/>
              <a:t>:</a:t>
            </a:r>
            <a:r>
              <a:rPr lang="en-IN" sz="1400" dirty="0"/>
              <a:t> </a:t>
            </a:r>
            <a:r>
              <a:rPr lang="en-IN" sz="1400" dirty="0" err="1"/>
              <a:t>RxJS</a:t>
            </a:r>
            <a:r>
              <a:rPr lang="en-IN" sz="1400" dirty="0"/>
              <a:t> Observable Streams, </a:t>
            </a:r>
            <a:r>
              <a:rPr lang="en-IN" sz="1400" dirty="0" err="1"/>
              <a:t>LocalStorage</a:t>
            </a:r>
            <a:r>
              <a:rPr lang="en-IN" sz="1400" dirty="0"/>
              <a:t> State Persistence</a:t>
            </a:r>
            <a:r>
              <a:rPr lang="en-IN" dirty="0"/>
              <a:t>.</a:t>
            </a:r>
            <a:endParaRPr lang="en-IN" dirty="0">
              <a:effectLst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r>
              <a:rPr lang="en-IN" sz="1600" b="1" dirty="0">
                <a:solidFill>
                  <a:srgbClr val="FFFF00"/>
                </a:solidFill>
              </a:rPr>
              <a:t>                                                               Layer 3: Backend API &amp; Business Logic Layer (Java Spring Boot)</a:t>
            </a:r>
          </a:p>
          <a:p>
            <a:pPr lvl="0"/>
            <a:r>
              <a:rPr lang="en-IN" sz="1400" b="1" dirty="0">
                <a:solidFill>
                  <a:srgbClr val="00B050"/>
                </a:solidFill>
              </a:rPr>
              <a:t>REST Controllers</a:t>
            </a:r>
            <a:r>
              <a:rPr lang="en-IN" sz="1400" b="1" dirty="0"/>
              <a:t>:</a:t>
            </a:r>
            <a:r>
              <a:rPr lang="en-IN" sz="1400" dirty="0"/>
              <a:t> /</a:t>
            </a:r>
            <a:r>
              <a:rPr lang="en-IN" sz="1400" dirty="0" err="1"/>
              <a:t>api</a:t>
            </a:r>
            <a:r>
              <a:rPr lang="en-IN" sz="1400" dirty="0"/>
              <a:t>/auth, /</a:t>
            </a:r>
            <a:r>
              <a:rPr lang="en-IN" sz="1400" dirty="0" err="1"/>
              <a:t>api</a:t>
            </a:r>
            <a:r>
              <a:rPr lang="en-IN" sz="1400" dirty="0"/>
              <a:t>/courses, /</a:t>
            </a:r>
            <a:r>
              <a:rPr lang="en-IN" sz="1400" dirty="0" err="1"/>
              <a:t>api</a:t>
            </a:r>
            <a:r>
              <a:rPr lang="en-IN" sz="1400" dirty="0"/>
              <a:t>/assessments, /</a:t>
            </a:r>
            <a:r>
              <a:rPr lang="en-IN" sz="1400" dirty="0" err="1"/>
              <a:t>api</a:t>
            </a:r>
            <a:r>
              <a:rPr lang="en-IN" sz="1400" dirty="0"/>
              <a:t>/timetable, /</a:t>
            </a:r>
            <a:r>
              <a:rPr lang="en-IN" sz="1400" dirty="0" err="1"/>
              <a:t>api</a:t>
            </a:r>
            <a:r>
              <a:rPr lang="en-IN" sz="1400" dirty="0"/>
              <a:t>/attendance.</a:t>
            </a:r>
          </a:p>
          <a:p>
            <a:pPr lvl="0"/>
            <a:r>
              <a:rPr lang="en-IN" sz="1400" b="1" dirty="0">
                <a:solidFill>
                  <a:srgbClr val="00B050"/>
                </a:solidFill>
              </a:rPr>
              <a:t>Security &amp; Processing</a:t>
            </a:r>
            <a:r>
              <a:rPr lang="en-IN" sz="1400" b="1" dirty="0"/>
              <a:t>:</a:t>
            </a:r>
            <a:r>
              <a:rPr lang="en-IN" sz="1400" dirty="0"/>
              <a:t> Multi-tier Role Validation, JSON Serialization, Attendance &amp; Timetable Multi-Branch Dispatcher.</a:t>
            </a:r>
          </a:p>
          <a:p>
            <a:pPr lvl="0"/>
            <a:r>
              <a:rPr lang="en-IN" sz="1400" b="1" dirty="0">
                <a:solidFill>
                  <a:srgbClr val="00B050"/>
                </a:solidFill>
              </a:rPr>
              <a:t>Tech Stack</a:t>
            </a:r>
            <a:r>
              <a:rPr lang="en-IN" sz="1400" b="1" dirty="0"/>
              <a:t>:</a:t>
            </a:r>
            <a:r>
              <a:rPr lang="en-IN" sz="1400" dirty="0"/>
              <a:t> Spring Boot 3.x, Spring Web, Maven, JPA / Hibernate.</a:t>
            </a:r>
            <a:endParaRPr lang="en-IN" sz="1400" dirty="0">
              <a:effectLst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39" y="5038344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                      Layer 4: Data Persistence &amp; Storage Layer (MySQL / Database)</a:t>
            </a:r>
          </a:p>
          <a:p>
            <a:pPr lvl="0"/>
            <a:r>
              <a:rPr lang="en-I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Relational Schemas</a:t>
            </a:r>
            <a:r>
              <a:rPr lang="en-IN" sz="1400" b="1" dirty="0"/>
              <a:t>:</a:t>
            </a:r>
            <a:r>
              <a:rPr lang="en-IN" sz="1400" dirty="0"/>
              <a:t> users, courses, </a:t>
            </a:r>
            <a:r>
              <a:rPr lang="en-IN" sz="1400" dirty="0" err="1"/>
              <a:t>faculty_allocations</a:t>
            </a:r>
            <a:r>
              <a:rPr lang="en-IN" sz="1400" dirty="0"/>
              <a:t>, assessments, </a:t>
            </a:r>
            <a:r>
              <a:rPr lang="en-IN" sz="1400" dirty="0" err="1"/>
              <a:t>co_po_mappings</a:t>
            </a:r>
            <a:r>
              <a:rPr lang="en-IN" sz="1400" dirty="0"/>
              <a:t>, </a:t>
            </a:r>
            <a:r>
              <a:rPr lang="en-IN" sz="1400" dirty="0" err="1"/>
              <a:t>timetable_slots</a:t>
            </a:r>
            <a:r>
              <a:rPr lang="en-IN" sz="1400" dirty="0"/>
              <a:t>.</a:t>
            </a:r>
          </a:p>
          <a:p>
            <a:pPr lvl="0"/>
            <a:r>
              <a:rPr lang="en-I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Integrity</a:t>
            </a:r>
            <a:r>
              <a:rPr lang="en-IN" sz="1400" b="1" dirty="0"/>
              <a:t>:</a:t>
            </a:r>
            <a:r>
              <a:rPr lang="en-IN" sz="1400" dirty="0"/>
              <a:t> Foreign key constraints, automated cascades, seed records across 6 engineering branches.</a:t>
            </a:r>
          </a:p>
          <a:p>
            <a:pPr lvl="0"/>
            <a:r>
              <a:rPr lang="en-I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Storage Engines</a:t>
            </a:r>
            <a:r>
              <a:rPr lang="en-IN" sz="1400" b="1" dirty="0"/>
              <a:t>:</a:t>
            </a:r>
            <a:r>
              <a:rPr lang="en-IN" sz="1400" dirty="0"/>
              <a:t> MySQL RDBMS with ACID transaction compliance.</a:t>
            </a:r>
            <a:endParaRPr lang="en-IN" sz="1400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10. Major System Modules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🏛️ Institutional Governance &amp; Approvals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User role management (Admin, Faculty, Student), academic approvals queue, and live institutional readiness index (92% NBA/NAAC compliance).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👨‍🏫 Faculty Workload &amp; Course Allocation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Dual-view interactive allocation matrix (By Faculty Deck &amp; By Branch/Semester Matrix) with contact hours and credit caps for 6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📋 Student Academic Results &amp; Marksheets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Master-Detail expandable student cards displaying SGPA, CGPA, passed courses, nested subject marks, and instant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📊 Accreditation Reports &amp; Export Suite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On-demand generator for NBA SAR Criterion 3 and NAAC 2.6 dossiers with search filters, pagination, and multi-format download (CSV/JSON/PDF).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11. UML &amp; Process Workflow Design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4D2824B8-BF1D-1DB2-B315-9831F5BE37ED}"/>
              </a:ext>
            </a:extLst>
          </p:cNvPr>
          <p:cNvSpPr/>
          <p:nvPr/>
        </p:nvSpPr>
        <p:spPr>
          <a:xfrm>
            <a:off x="500426" y="166878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r>
              <a:rPr lang="en-IN" dirty="0"/>
              <a:t>LOGIN PAGE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15FE29-94B9-B405-3CA8-07A3B886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31" y="2088859"/>
            <a:ext cx="4750777" cy="4077049"/>
          </a:xfrm>
          <a:prstGeom prst="rect">
            <a:avLst/>
          </a:prstGeom>
        </p:spPr>
      </p:pic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C7071552-5C13-DF56-8B70-18A85346DB98}"/>
              </a:ext>
            </a:extLst>
          </p:cNvPr>
          <p:cNvSpPr/>
          <p:nvPr/>
        </p:nvSpPr>
        <p:spPr>
          <a:xfrm>
            <a:off x="6169264" y="166878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0D1772-4BC6-FABB-F806-9DC54558B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55" y="1963024"/>
            <a:ext cx="4605859" cy="42028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ABC7AF-07C9-48B9-9851-E950B3F5A01A}"/>
              </a:ext>
            </a:extLst>
          </p:cNvPr>
          <p:cNvSpPr txBox="1"/>
          <p:nvPr/>
        </p:nvSpPr>
        <p:spPr>
          <a:xfrm>
            <a:off x="2592197" y="1279913"/>
            <a:ext cx="2776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+mj-lt"/>
              </a:rPr>
              <a:t>USE-CASE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87AE7C-9DB9-BF74-CA76-994C7E8FF1DB}"/>
              </a:ext>
            </a:extLst>
          </p:cNvPr>
          <p:cNvSpPr txBox="1"/>
          <p:nvPr/>
        </p:nvSpPr>
        <p:spPr>
          <a:xfrm>
            <a:off x="7961150" y="1251555"/>
            <a:ext cx="2776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+mj-lt"/>
              </a:rPr>
              <a:t>UML-CLASS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ENTITY RELATIONSHIP(ER DIAGRAM)</a:t>
            </a:r>
            <a:endParaRPr dirty="0"/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FD68A839-7C99-EF14-341A-100EAC4A132A}"/>
              </a:ext>
            </a:extLst>
          </p:cNvPr>
          <p:cNvSpPr/>
          <p:nvPr/>
        </p:nvSpPr>
        <p:spPr>
          <a:xfrm>
            <a:off x="548640" y="1600199"/>
            <a:ext cx="11094415" cy="5110993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9433C6-6EDD-82E7-CD24-44FB14FF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970" y="1676748"/>
            <a:ext cx="8145710" cy="49578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13. User Interface — </a:t>
            </a:r>
            <a:r>
              <a:rPr lang="en-IN" dirty="0"/>
              <a:t>LOGIN AND STUDENT</a:t>
            </a:r>
            <a:endParaRPr dirty="0"/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r>
              <a:rPr lang="en-IN" dirty="0"/>
              <a:t>LOGIN PAGE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70167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A3531-E05C-88CC-FB52-15A469F0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39" y="1661021"/>
            <a:ext cx="4461739" cy="4295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CADFF-8AF8-D3B8-5C69-134EE925F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37189"/>
            <a:ext cx="4961754" cy="38337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14. User Interface — </a:t>
            </a:r>
            <a:r>
              <a:rPr lang="en-IN" dirty="0"/>
              <a:t>FACULTY AND ADMIN</a:t>
            </a:r>
            <a:endParaRPr dirty="0"/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A83F5-1A73-A050-D619-377A1E6CC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39" y="1961765"/>
            <a:ext cx="4740162" cy="3665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786230-FCF6-79BF-CE32-198DF6962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25101"/>
            <a:ext cx="4800773" cy="36710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15. Testing Strategy &amp; Verification Results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Verified Outcome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Role Route Guards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Student blocked from accessing Admin console (/admin) and redirected.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Dynamic OBE Weight Sync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Modifying CIE/SEE weights (40/60) immediately recalculates transcripts.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SGPA / CGPA Calculation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Calculates weighted grade points divided by total credits with 2-decimal accuracy.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Production Build Check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Angular production bundle (ng build --prod) compiled with 0 errors.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16. Technical Challenges &amp; Solution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Challenge 1: Real-Time Cross-Tab State Sync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When an Admin updated global OBE weights (40/60) in one tab, other open tabs (Results, Marksheets) remained stale until manual refresh.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Engineered a reactive SyncService with browser storage events and RxJS Subjects to broadcast MARKS_CHANGED events instantly across tabs.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Challenge 2: Layout Width Overflow on Laptops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Accreditation Reports table pushed past screen borders on standard 1366x768 laptop resolutions due to fixed 1200px container width.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Refactored reports layout into a 100% fluid grid with custom scrollbar wrappers, compact badges, and client-side pagination (10/20/50).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Challenge 3: Repetitive Student Rows in Results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results page initially listed each course as a separate flat row, repeating student names 7-8 times and cluttering review.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Transformed the interface into a Master-Detail Expandable Accordion Deck grouping courses under unique student cards with live SGPA/CGPA.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17. Team Contributions &amp;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27848" cy="290301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rPr dirty="0"/>
              <a:t>👨‍💻 </a:t>
            </a:r>
            <a:r>
              <a:rPr lang="en-IN" dirty="0"/>
              <a:t>D</a:t>
            </a:r>
            <a:r>
              <a:rPr dirty="0"/>
              <a:t>. Krishna Vamsi  </a:t>
            </a:r>
            <a:endParaRPr lang="en-IN" dirty="0"/>
          </a:p>
          <a:p>
            <a:r>
              <a:rPr lang="en-IN" sz="1200" b="1" dirty="0"/>
              <a:t>Admin &amp; Governance Architecture Lead</a:t>
            </a:r>
          </a:p>
          <a:p>
            <a:pPr lvl="0"/>
            <a:r>
              <a:rPr lang="en-IN" sz="1200" b="1" dirty="0"/>
              <a:t>Primary Module:</a:t>
            </a:r>
            <a:r>
              <a:rPr lang="en-IN" sz="1200" dirty="0"/>
              <a:t> </a:t>
            </a:r>
            <a:r>
              <a:rPr lang="en-IN" sz="1200" b="1" dirty="0"/>
              <a:t>Admin Console &amp; Institution Governance</a:t>
            </a:r>
            <a:r>
              <a:rPr lang="en-IN" sz="1200" dirty="0"/>
              <a:t> </a:t>
            </a:r>
          </a:p>
          <a:p>
            <a:pPr lvl="1"/>
            <a:r>
              <a:rPr lang="en-IN" sz="1200" dirty="0"/>
              <a:t>Built Admin Dashboard for department-wise student/faculty allocation.</a:t>
            </a:r>
          </a:p>
          <a:p>
            <a:pPr lvl="0"/>
            <a:r>
              <a:rPr lang="en-IN" sz="1200" b="1" dirty="0"/>
              <a:t>Engineering &amp; Architecture Ownership:</a:t>
            </a:r>
            <a:r>
              <a:rPr lang="en-IN" sz="1200" dirty="0"/>
              <a:t> </a:t>
            </a:r>
          </a:p>
          <a:p>
            <a:pPr lvl="1"/>
            <a:r>
              <a:rPr lang="en-IN" sz="1200" b="1" dirty="0"/>
              <a:t>Database Schema Design:</a:t>
            </a:r>
            <a:r>
              <a:rPr lang="en-IN" sz="1200" dirty="0"/>
              <a:t> Relational database schema (users, courses, departments, </a:t>
            </a:r>
            <a:r>
              <a:rPr lang="en-IN" sz="1200" dirty="0" err="1"/>
              <a:t>enrollments</a:t>
            </a:r>
            <a:r>
              <a:rPr lang="en-IN" sz="1200" dirty="0"/>
              <a:t>).</a:t>
            </a:r>
          </a:p>
          <a:p>
            <a:pPr lvl="1"/>
            <a:r>
              <a:rPr lang="en-IN" sz="1200" b="1" dirty="0"/>
              <a:t>UML &amp; System </a:t>
            </a:r>
            <a:r>
              <a:rPr lang="en-IN" sz="1200" b="1" dirty="0" err="1"/>
              <a:t>Modeling</a:t>
            </a:r>
            <a:r>
              <a:rPr lang="en-IN" sz="1200" b="1" dirty="0"/>
              <a:t>:</a:t>
            </a:r>
            <a:r>
              <a:rPr lang="en-IN" sz="1200" dirty="0"/>
              <a:t> Use Case Diagrams, Class Diagrams, and System Architecture Flowcharts.</a:t>
            </a:r>
          </a:p>
          <a:p>
            <a:pPr lvl="1"/>
            <a:r>
              <a:rPr lang="en-IN" sz="1400" b="1" dirty="0"/>
              <a:t>Security:</a:t>
            </a:r>
            <a:r>
              <a:rPr lang="en-IN" sz="1400" dirty="0"/>
              <a:t> Role-based routing guards &amp; authentication tokens.</a:t>
            </a:r>
          </a:p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096000" y="1417320"/>
            <a:ext cx="5516880" cy="290301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rPr lang="en-IN" dirty="0"/>
              <a:t>👨‍💻 T. Santosh Vardhan </a:t>
            </a:r>
          </a:p>
          <a:p>
            <a:r>
              <a:rPr lang="en-IN" sz="1200" b="1" dirty="0"/>
              <a:t>Faculty Command </a:t>
            </a:r>
            <a:r>
              <a:rPr lang="en-IN" sz="1200" b="1" dirty="0" err="1"/>
              <a:t>Center</a:t>
            </a:r>
            <a:r>
              <a:rPr lang="en-IN" sz="1200" b="1" dirty="0"/>
              <a:t> &amp; Attainment Lead</a:t>
            </a:r>
          </a:p>
          <a:p>
            <a:pPr lvl="0"/>
            <a:r>
              <a:rPr lang="en-IN" sz="1200" b="1" dirty="0"/>
              <a:t>Primary Module:</a:t>
            </a:r>
            <a:r>
              <a:rPr lang="en-IN" sz="1200" dirty="0"/>
              <a:t> </a:t>
            </a:r>
            <a:r>
              <a:rPr lang="en-IN" sz="1200" b="1" dirty="0"/>
              <a:t>Faculty Command </a:t>
            </a:r>
            <a:r>
              <a:rPr lang="en-IN" sz="1200" b="1" dirty="0" err="1"/>
              <a:t>Center</a:t>
            </a:r>
            <a:r>
              <a:rPr lang="en-IN" sz="1200" b="1" dirty="0"/>
              <a:t> &amp; CO-PO Attainment</a:t>
            </a:r>
            <a:r>
              <a:rPr lang="en-IN" sz="1200" dirty="0"/>
              <a:t> </a:t>
            </a:r>
          </a:p>
          <a:p>
            <a:pPr lvl="1"/>
            <a:r>
              <a:rPr lang="en-IN" sz="1200" dirty="0"/>
              <a:t>Built Faculty Course Workload deck (dual-view contact hours &amp; weekly load).</a:t>
            </a:r>
          </a:p>
          <a:p>
            <a:pPr lvl="1"/>
            <a:r>
              <a:rPr lang="en-IN" sz="1200" dirty="0"/>
              <a:t>Implemented Continuous Internal Evaluation (CIE) and Semester End Exam (SEE) mark entry matrices.</a:t>
            </a:r>
          </a:p>
          <a:p>
            <a:pPr lvl="0"/>
            <a:r>
              <a:rPr lang="en-IN" sz="1200" b="1" dirty="0"/>
              <a:t>Engineering &amp; Architecture Ownership:</a:t>
            </a:r>
            <a:r>
              <a:rPr lang="en-IN" sz="1200" dirty="0"/>
              <a:t> </a:t>
            </a:r>
          </a:p>
          <a:p>
            <a:pPr lvl="1"/>
            <a:r>
              <a:rPr lang="en-IN" sz="1200" b="1" dirty="0"/>
              <a:t>Attendance &amp; Timetable Engine:</a:t>
            </a:r>
            <a:r>
              <a:rPr lang="en-IN" sz="1200" dirty="0"/>
              <a:t> Multi-department timetable matrix and daily attendance logger.</a:t>
            </a:r>
          </a:p>
          <a:p>
            <a:pPr lvl="1"/>
            <a:r>
              <a:rPr lang="en-IN" sz="1200" b="1" dirty="0"/>
              <a:t>UML &amp; Database:</a:t>
            </a:r>
            <a:r>
              <a:rPr lang="en-IN" sz="1200" dirty="0"/>
              <a:t> Entity-Relationship (ER) Diagrams, Activity Diagrams, and State Machine Diagrams.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652" y="4503210"/>
            <a:ext cx="10893944" cy="2153034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r>
              <a:rPr lang="en-IN" sz="1600" dirty="0"/>
              <a:t>                                                                                         👨‍💻 </a:t>
            </a:r>
            <a:r>
              <a:rPr lang="en-IN" sz="1600" dirty="0" err="1">
                <a:solidFill>
                  <a:srgbClr val="FFC000"/>
                </a:solidFill>
              </a:rPr>
              <a:t>M.Loukika</a:t>
            </a:r>
            <a:endParaRPr lang="en-IN" sz="1600" dirty="0">
              <a:solidFill>
                <a:srgbClr val="FFC000"/>
              </a:solidFill>
            </a:endParaRPr>
          </a:p>
          <a:p>
            <a:r>
              <a:rPr lang="en-IN" sz="1200" b="1" dirty="0"/>
              <a:t>Student Portal &amp; AI Integration Lead</a:t>
            </a:r>
          </a:p>
          <a:p>
            <a:pPr lvl="0"/>
            <a:r>
              <a:rPr lang="en-IN" sz="1200" b="1" dirty="0"/>
              <a:t>Primary Module:</a:t>
            </a:r>
            <a:r>
              <a:rPr lang="en-IN" sz="1200" dirty="0"/>
              <a:t> </a:t>
            </a:r>
            <a:r>
              <a:rPr lang="en-IN" sz="1200" b="1" dirty="0"/>
              <a:t>Student Results &amp; Learning Hub</a:t>
            </a:r>
            <a:r>
              <a:rPr lang="en-IN" sz="1200" dirty="0"/>
              <a:t> </a:t>
            </a:r>
          </a:p>
          <a:p>
            <a:pPr lvl="1"/>
            <a:r>
              <a:rPr lang="en-IN" sz="1200" dirty="0"/>
              <a:t>Engineered Student Marksheet with expandable semester-wise grade accordions.</a:t>
            </a:r>
          </a:p>
          <a:p>
            <a:pPr lvl="1"/>
            <a:r>
              <a:rPr lang="en-IN" sz="1200" dirty="0"/>
              <a:t>Automated dynamic SGPA/CGPA calculation engine and instant PDF transcript generator.</a:t>
            </a:r>
          </a:p>
          <a:p>
            <a:pPr lvl="1"/>
            <a:r>
              <a:rPr lang="en-IN" sz="1200" dirty="0"/>
              <a:t>Built Student Timetable view.</a:t>
            </a:r>
          </a:p>
          <a:p>
            <a:pPr lvl="0"/>
            <a:r>
              <a:rPr lang="en-IN" sz="1200" b="1" dirty="0"/>
              <a:t>Engineering &amp; Architecture Ownership:</a:t>
            </a:r>
            <a:r>
              <a:rPr lang="en-IN" sz="1200" dirty="0"/>
              <a:t> </a:t>
            </a:r>
          </a:p>
          <a:p>
            <a:pPr lvl="1"/>
            <a:r>
              <a:rPr lang="en-IN" sz="1200" b="1" dirty="0"/>
              <a:t>AI Assistant Module:</a:t>
            </a:r>
            <a:r>
              <a:rPr lang="en-IN" sz="1200" dirty="0"/>
              <a:t> Integrated Google Gemini AI Chatbot (SIDDHI AI Assistant) for real-time academic queries.</a:t>
            </a:r>
          </a:p>
          <a:p>
            <a:pPr lvl="1"/>
            <a:r>
              <a:rPr lang="en-IN" sz="1200" b="1" dirty="0"/>
              <a:t>UML Diagrams:</a:t>
            </a:r>
            <a:r>
              <a:rPr lang="en-IN" sz="1200" dirty="0"/>
              <a:t> Sequence Diagrams &amp; Data Flow Diagrams (DFD Level 0, 1, 2).</a:t>
            </a:r>
          </a:p>
          <a:p>
            <a:pPr lvl="1"/>
            <a:r>
              <a:rPr lang="en-IN" sz="1200" b="1" dirty="0"/>
              <a:t>Frontend Styling:</a:t>
            </a:r>
            <a:r>
              <a:rPr lang="en-IN" sz="1200" dirty="0"/>
              <a:t> Responsive Luxury Dark UI theme and Material Design styling.</a:t>
            </a:r>
            <a:endParaRPr lang="en-IN" sz="120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18. Future Scope &amp; Technology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📱 1. Cross-Platform Mobile Apps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Develop Flutter / React Native mobile applications for instant push notifications on marks, timetables, and attendance.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🤖 2. Generative AI Exam Synthesis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Integrate LLM APIs to automatically generate university exam papers tagged with Bloom's Taxonomy levels mapped to Course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📡 3. Biometric &amp; RFID Attendance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Connect classroom hardware RFID readers directly to the attendance engine for automated real-time presence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🏛️ 4. Direct e-NBA Portal Upload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automated XML/JSON submission pipelines to upload validated SAR dossiers directly to national accreditation servers.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18288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19. Conclusion &amp;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8367" y="135636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rPr dirty="0"/>
              <a:t>🎯 Executive Conclusion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Successfully built and deployed OBLMS, an Outcome-Based Learning Management System adhering to NBA Tier-1 and NAAC 2.6 standards.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Eliminated manual calculation overhead by automating CIE/SEE weights (40/60), SGPA/CGPA transcripts, and 12-PO vectors.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Delivered a luxury, responsive dark UI featuring dual-view faculty workload decks and expandable student marksheet accordions.</a:t>
            </a:r>
          </a:p>
          <a:p>
            <a:pPr>
              <a:lnSpc>
                <a:spcPct val="150000"/>
              </a:lnSpc>
              <a:defRPr sz="1350">
                <a:solidFill>
                  <a:srgbClr val="E2E8F0"/>
                </a:solidFill>
                <a:latin typeface="Calibri"/>
              </a:defRPr>
            </a:pPr>
            <a:r>
              <a:rPr dirty="0"/>
              <a:t>✔ Verified 100% production compilation readiness with zero errors on Angular 18.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48B7-BAAD-F6CF-2920-8A28E064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E1ED5C-FB71-F279-CA72-30B466A249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29E15FB-531E-D9E0-B0CD-F1744B09C921}"/>
              </a:ext>
            </a:extLst>
          </p:cNvPr>
          <p:cNvSpPr/>
          <p:nvPr/>
        </p:nvSpPr>
        <p:spPr>
          <a:xfrm>
            <a:off x="2005795" y="1051560"/>
            <a:ext cx="8698558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rPr lang="en-IN" sz="4000" dirty="0">
                <a:solidFill>
                  <a:schemeClr val="bg1"/>
                </a:solidFill>
                <a:latin typeface="Lucida Handwriting" panose="03010101010101010101" pitchFamily="66" charset="0"/>
              </a:rPr>
              <a:t>Thanking You </a:t>
            </a:r>
            <a:br>
              <a:rPr lang="en-IN" sz="4000" dirty="0">
                <a:solidFill>
                  <a:schemeClr val="bg1"/>
                </a:solidFill>
                <a:latin typeface="Lucida Handwriting" panose="03010101010101010101" pitchFamily="66" charset="0"/>
              </a:rPr>
            </a:br>
            <a:r>
              <a:rPr lang="en-IN" sz="4000" dirty="0">
                <a:solidFill>
                  <a:schemeClr val="bg1"/>
                </a:solidFill>
                <a:latin typeface="Lucida Handwriting" panose="03010101010101010101" pitchFamily="66" charset="0"/>
              </a:rPr>
              <a:t>~~~Have a good Day~~~</a:t>
            </a:r>
            <a:endParaRPr sz="4000" dirty="0">
              <a:solidFill>
                <a:schemeClr val="bg1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85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2183</Words>
  <Application>Microsoft Office PowerPoint</Application>
  <PresentationFormat>Widescreen</PresentationFormat>
  <Paragraphs>218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Algerian</vt:lpstr>
      <vt:lpstr>Arial</vt:lpstr>
      <vt:lpstr>Calibri</vt:lpstr>
      <vt:lpstr>Castellar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Loukika Malla</cp:lastModifiedBy>
  <cp:revision>7</cp:revision>
  <dcterms:created xsi:type="dcterms:W3CDTF">2013-01-27T09:14:16Z</dcterms:created>
  <dcterms:modified xsi:type="dcterms:W3CDTF">2026-10-05T04:19:18Z</dcterms:modified>
  <cp:category/>
</cp:coreProperties>
</file>