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5303520" cy="411480"/>
          </a:xfrm>
          <a:prstGeom prst="roundRect">
            <a:avLst/>
          </a:prstGeom>
          <a:solidFill>
            <a:srgbClr val="0910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Calibri"/>
              </a:defRPr>
            </a:pPr>
            <a:r>
              <a:t>🏛️ SOFTWARE TECHNOLOGY DOMAIN  |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OUTCOME-BASED LEARNING MANAGEMENT &amp;</a:t>
            </a:r>
            <a:br/>
            <a:r>
              <a:t>ACCREDITATION GOVERNANCE SYSTEM (OBLMS)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An Enterprise Full-Stack Web Platform for Automated CO-PO Attainment, Faculty Workload Allocation, and NBA/NAAC Accreditation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91840"/>
            <a:ext cx="4754880" cy="2468880"/>
          </a:xfrm>
          <a:prstGeom prst="roundRect">
            <a:avLst/>
          </a:prstGeom>
          <a:solidFill>
            <a:srgbClr val="091024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FDE68A"/>
                </a:solidFill>
                <a:latin typeface="Calibri"/>
              </a:defRPr>
            </a:pPr>
            <a:r>
              <a:t>👥 Project Team &amp; Author Details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Lead Author &amp; Developer: V. Krishna Vamsi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Registration / Roll No: CUTM2026CSE042 (STU004)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Academic Program: B.Tech Computer Science &amp; Engineering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Specialization Track: Software Technology Domain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Academic Session: 2026 – 2027 (Semester 8 / Final Year)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291840"/>
            <a:ext cx="4937760" cy="2468880"/>
          </a:xfrm>
          <a:prstGeom prst="roundRect">
            <a:avLst/>
          </a:prstGeom>
          <a:solidFill>
            <a:srgbClr val="091024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FDE68A"/>
                </a:solidFill>
                <a:latin typeface="Calibri"/>
              </a:defRPr>
            </a:pPr>
            <a:r>
              <a:t>🏛️ Institutional Supervision &amp; Affiliation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Project Supervisor / Guide: Project Faculty Guide / Supervisor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Department: Department of Computer Science &amp; Engineering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School: School of Engineering &amp; Technology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University: Centurion University of Technology &amp; Management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• Evaluation Framework: NBA Tier-1 Criteria &amp; NAAC 2.6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 of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2. Introduction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Real-World Context, Problem Space, Stakeholders &amp; Technology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🌍 Real-World Context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Outcome-Based Education (OBE) is mandatory for Washington Accord, NBA Tier-1, and NAAC accreditations. Higher education institutions must systematically quantify what students learn, map assessments to Course Outcomes (COs), and evaluate Program Outcomes (POs).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17320"/>
            <a:ext cx="35661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👥 Target Stakeholders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• Chief Academic Administrator / Dean: Institutional governance, OBE thresholds, and accreditation SAR dossiers.</a:t>
            </a:r>
            <a:br/>
            <a:r>
              <a:t>• Faculty / Professors: Workload tracking, assessment grading, and CO attainment mapping.</a:t>
            </a:r>
            <a:br/>
            <a:r>
              <a:t>• Enrolled Students: Marksheets, SGPA/CGPA calculations, and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17320"/>
            <a:ext cx="35661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💻 The Solution: OBLMS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Outcome-Based Learning Management System (OBLMS) is a full-stack, enterprise academic platform engineered with Angular 18 and Java/Spring Boot. It automates curriculum-subject mapping, grading weights, student results, and audit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2 of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3. Problem Statement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Critical Challenges Faced by Educational Institutions in Manual OBE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F87171"/>
                </a:solidFill>
                <a:latin typeface="Calibri"/>
              </a:defRPr>
            </a:pPr>
            <a:r>
              <a:t>⚠️ Major Pain Points &amp; Inefficiencies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• Fragmented Manual Spreadsheets: Marks and curriculum data are stored in disconnected Excel sheets across professors, leading to data loss and discrepancies.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• Complex OBE Calculation Burden: Computing weighted CIE (40%) and SEE (60%) averages, CO direct attainment, and 12-PO Washington Accord vectors by hand takes hundreds of faculty hours.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• Lack of Real-Time Audit Readiness: When NBA/NAAC committees visit, aggregating multi-year student dossiers takes weeks of emergency manual compilation.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• Unbalanced Faculty Workload: Department HODs lack a centralized visual matrix to balance subject assignments, teaching contact hours, and credit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🎯 The Measurable Challenge</a:t>
            </a:r>
          </a:p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"How can we engineer a centralized, reactive, single-source-of-truth academic platform that unifies curriculum-faculty allocation, enforces dynamic OBE grading ratios, computes instant student SGPA/CGPA transcripts, and outputs compliant NBA SAR Criterion 3 reports with zero manual overhead?"</a:t>
            </a:r>
          </a:p>
          <a:p>
            <a:br/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Target Requirements:</a:t>
            </a:r>
          </a:p>
          <a:p>
            <a:pPr>
              <a:defRPr sz="1150">
                <a:solidFill>
                  <a:srgbClr val="4ADE80"/>
                </a:solidFill>
                <a:latin typeface="Calibri"/>
              </a:defRPr>
            </a:pPr>
            <a:r>
              <a:t>✔ Zero calculation discrepancies across 8 semesters and 6 departments.</a:t>
            </a:r>
          </a:p>
          <a:p>
            <a:pPr>
              <a:defRPr sz="1150">
                <a:solidFill>
                  <a:srgbClr val="4ADE80"/>
                </a:solidFill>
                <a:latin typeface="Calibri"/>
              </a:defRPr>
            </a:pPr>
            <a:r>
              <a:t>✔ Sub-second reactive state updates between mark entries and transcripts.</a:t>
            </a:r>
          </a:p>
          <a:p>
            <a:pPr>
              <a:defRPr sz="1150">
                <a:solidFill>
                  <a:srgbClr val="4ADE80"/>
                </a:solidFill>
                <a:latin typeface="Calibri"/>
              </a:defRPr>
            </a:pPr>
            <a:r>
              <a:t>✔ 100% automated calculation of Washington Accord PO attainments.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3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4. Objectives of the Project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Specific, Measurable, and Technically Achievable Functional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50" b="1">
                <a:solidFill>
                  <a:srgbClr val="38BDF8"/>
                </a:solidFill>
                <a:latin typeface="Calibri"/>
              </a:defRPr>
            </a:pPr>
            <a:r>
              <a:t>1. Automated OBE Attainment Engine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Design dynamic mathematical computation algorithms for Direct CO Attainment, Indirect Feedback Attainment, and 12-Program Outcome (PO) matrices based on institutional benchmark thresholds (e.g. 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50" b="1">
                <a:solidFill>
                  <a:srgbClr val="D4AF37"/>
                </a:solidFill>
                <a:latin typeface="Calibri"/>
              </a:defRPr>
            </a:pPr>
            <a:r>
              <a:t>2. Dual-View Faculty Workload Deck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Develop an interactive visual workload governance deck supporting both Professor-centric portfolio cards and Branch-by-Semester matrix for 6 engineering departments (CSE, IT, ECE, ME, CE, EEE).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375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50" b="1">
                <a:solidFill>
                  <a:srgbClr val="4ADE80"/>
                </a:solidFill>
                <a:latin typeface="Calibri"/>
              </a:defRPr>
            </a:pPr>
            <a:r>
              <a:t>3. Student Academic Results &amp; Marksheets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Implement a Master-Detail expandable results deck grouping evaluated courses per student with real-time SGPA, CGPA, pass status, and single-click official transcript PDF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68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50" b="1">
                <a:solidFill>
                  <a:srgbClr val="60A5FA"/>
                </a:solidFill>
                <a:latin typeface="Calibri"/>
              </a:defRPr>
            </a:pPr>
            <a:r>
              <a:t>4. Institutional Accreditation Reporting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Build an automated NBA SAR Criterion 3 &amp; NAAC 2.6 dossier generator supporting dynamic multi-parameter filtering, pagination, and multi-format exports (CSV, JSON, PDF).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50" b="1">
                <a:solidFill>
                  <a:srgbClr val="FDE68A"/>
                </a:solidFill>
                <a:latin typeface="Calibri"/>
              </a:defRPr>
            </a:pPr>
            <a:r>
              <a:t>5. Role-Based Governance &amp; Synchronization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Enforce strict Role-Based Access Control (Admin, Faculty, Student) paired with reactive event-driven synchronization across browser sessions via Angular RxJS services.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4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5. Existing System &amp; Its Limitations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Comparative Analysis of Current Academic Practices vs Institutional Demands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4144975"/>
              </a:tblGrid>
              <a:tr h="77724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Operational Area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Traditional Existing System (Manual / Excel)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Associated Risk / Critical Limitation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Curriculum &amp; Subject Allotment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Department staff maintain standalone word/excel files per semester.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High probability of faculty over-allocation and duplicate subject assignments.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OBE Assessment &amp; CO Mapping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Professors manually map test questions on paper or spreadsheet templates.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Formula errors in weighted CIE (40%) / SEE (60%) mark aggregation.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Results &amp; Marksheets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Periodic physical notifications published on noticeboards or flat tables.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 dynamic SGPA/CGPA computation; slow duplicate row processing.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NBA / NAAC Audit Reporting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Weeks of manual consolidation required to aggregate multi-year attainment data.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Lack of verifiable audit trail; delayed dossier submission to accreditation bodies.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Security &amp; Access Governance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Unencrypted spreadsheets shared over email with no role-based privacy.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Unauthorized data manipulation and lack of audit logging.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5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6. Proposed System Architecture &amp; Workflow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Unified Institutional Governance, OBE Engine, and Transcript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06040" cy="365760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Step 1: Curriculum &amp; Policy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Admin defines academic session (2026-27), sets global CIE/SEE weight ratios (40/60%), and establishes CO threshold benchmark (75%).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606040" cy="365760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Step 2: Workload Allocation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HOD assigns courses to faculty across 6 departments (CSE, IT, ECE, ME, CE, EEE) with live weekly contact hour &amp; credit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365760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Step 3: Continuous Assessment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Faculty enter internal CIE &amp; final SEE marks mapped directly to defined Course Outcomes (CO1 to CO5).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17320"/>
            <a:ext cx="2606040" cy="365760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Step 4: Automated Computation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Engine computes student SGPA/CGPA, generates expandable marksheets, and compiles instant NBA SAR Criterion 3 dossiers.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1094415" cy="960120"/>
          </a:xfrm>
          <a:prstGeom prst="roundRect">
            <a:avLst/>
          </a:prstGeom>
          <a:solidFill>
            <a:srgbClr val="0910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FDE68A"/>
                </a:solidFill>
                <a:latin typeface="Calibri"/>
              </a:defRPr>
            </a:pPr>
            <a:r>
              <a:t>🌟 Key Architectural Advantages of the Proposed OBLMS: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Zero-Flicker Standalone SPA  • Real-Time SyncService Event Bus  • Multi-Tier Role Guards  • Instant Client-Side PDF/CSV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6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7. Scope of the Project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Delimitation of Implemented Functionalities vs Future Enhancement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50" b="1">
                <a:solidFill>
                  <a:srgbClr val="4ADE80"/>
                </a:solidFill>
                <a:latin typeface="Calibri"/>
              </a:defRPr>
            </a:pPr>
            <a:r>
              <a:t>✅ Within Implemented Project Scope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Full Institutional Role Management: Role-based dashboards for Administrator, Faculty, and Students with Angular Route Guards.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Dual-View Faculty Workload Governance: Faculty workload accordion deck with credit calculation, weekly hours, and branch matrix.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Student Results &amp; Marksheet Deck: Master-Detail expandable student cards with dynamic SGPA/CGPA calculations across 8 semesters.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NBA/NAAC Accreditation Reports: Dynamic generation of SAR Criterion 3 reports with search, pagination, and multi-format export.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Global Academic Parameter Configuration: Real-time CIE/SEE weight ratio controllers and CO attainment threshold sliders.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Client-Side PDF &amp; CSV Export Suite: One-click official marksheet PDFs with university seal, signatures, and grade summaries.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50" b="1">
                <a:solidFill>
                  <a:srgbClr val="38BDF8"/>
                </a:solidFill>
                <a:latin typeface="Calibri"/>
              </a:defRPr>
            </a:pPr>
            <a:r>
              <a:t>🚀 Outside Current Scope (Future Roadmap)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Native Mobile Application: Dedicated Flutter / React Native mobile apps for student and faculty push notifications.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AI-Powered Question Paper Generation: Automatic Bloom's Taxonomy tagging and question bank generation using LLM APIs.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Biometric &amp; RFID Attendance Hardware: IoT hardware integration for automated classroom attendance recording.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University ERP Integration: Direct bidirectional REST integration with third-party university finance and fee payment gateways.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Predictive Student Analytics: Machine learning models to forecast student at-risk backlog probabilities prior to final exams.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7 of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8. Technology Stack &amp; Development Environment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Enterprise Engineering Layers, Libraries, Languages, and DevOps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0604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350" b="1">
                <a:solidFill>
                  <a:srgbClr val="38BDF8"/>
                </a:solidFill>
                <a:latin typeface="Calibri"/>
              </a:defRPr>
            </a:pPr>
            <a:r>
              <a:t>🎨 Frontend Tier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Framework:</a:t>
            </a:r>
            <a:br/>
            <a:r>
              <a:t>Angular 18 (Standalone Component Architecture)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Language:</a:t>
            </a:r>
            <a:br/>
            <a:r>
              <a:t>TypeScript 5.4 / JavaScript ES2022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Styling &amp; UX:</a:t>
            </a:r>
            <a:br/>
            <a:r>
              <a:t>CSS3, CSS Variables, Responsive Grid, Flexbox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State &amp; Streams:</a:t>
            </a:r>
            <a:br/>
            <a:r>
              <a:t>RxJS Observables &amp; Reactive SyncService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UI Components:</a:t>
            </a:r>
            <a:br/>
            <a:r>
              <a:t>Angular Material, Custom Dark Luxury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60604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350" b="1">
                <a:solidFill>
                  <a:srgbClr val="60A5FA"/>
                </a:solidFill>
                <a:latin typeface="Calibri"/>
              </a:defRPr>
            </a:pPr>
            <a:r>
              <a:t>⚙️ Backend &amp; APIs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Platform:</a:t>
            </a:r>
            <a:br/>
            <a:r>
              <a:t>Java 17+ / Spring Boot Framework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API Architecture:</a:t>
            </a:r>
            <a:br/>
            <a:r>
              <a:t>RESTful JSON Endpoints &amp; CORS Gateways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Communication:</a:t>
            </a:r>
            <a:br/>
            <a:r>
              <a:t>Angular HttpClient with RxJS Interceptors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Sync Engine:</a:t>
            </a:r>
            <a:br/>
            <a:r>
              <a:t>Distributed Cross-Tab Storage Event Bus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Security:</a:t>
            </a:r>
            <a:br/>
            <a:r>
              <a:t>Role-Based Route Guards &amp; JWT Authorization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350" b="1">
                <a:solidFill>
                  <a:srgbClr val="4ADE80"/>
                </a:solidFill>
                <a:latin typeface="Calibri"/>
              </a:defRPr>
            </a:pPr>
            <a:r>
              <a:t>💾 Persistence &amp; Cache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Database:</a:t>
            </a:r>
            <a:br/>
            <a:r>
              <a:t>MySQL / PostgreSQL Relational Database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Client Storage:</a:t>
            </a:r>
            <a:br/>
            <a:r>
              <a:t>LocalStorage Persistent State Engine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Data Models:</a:t>
            </a:r>
            <a:br/>
            <a:r>
              <a:t>Strict TypeScript Interfaces &amp; DTOs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Cache Control:</a:t>
            </a:r>
            <a:br/>
            <a:r>
              <a:t>Instant in-memory query filtering and sorting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Export Formats:</a:t>
            </a:r>
            <a:br/>
            <a:r>
              <a:t>CSV Data Streams, JSON, Printable HTML/PDF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17320"/>
            <a:ext cx="260604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350" b="1">
                <a:solidFill>
                  <a:srgbClr val="D4AF37"/>
                </a:solidFill>
                <a:latin typeface="Calibri"/>
              </a:defRPr>
            </a:pPr>
            <a:r>
              <a:t>🛠️ Tools &amp; DevOps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IDE:</a:t>
            </a:r>
            <a:br/>
            <a:r>
              <a:t>Visual Studio Code (VS Code)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Version Control:</a:t>
            </a:r>
            <a:br/>
            <a:r>
              <a:t>Git &amp; GitHub Remote Repository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Build &amp; Package:</a:t>
            </a:r>
            <a:br/>
            <a:r>
              <a:t>Node.js 20+, npm, Angular CLI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Build Verification:</a:t>
            </a:r>
            <a:br/>
            <a:r>
              <a:t>npx ng build --configuration=production (0 errors)</a:t>
            </a:r>
          </a:p>
          <a:p>
            <a:pPr>
              <a:defRPr sz="980">
                <a:solidFill>
                  <a:srgbClr val="CBD5E1"/>
                </a:solidFill>
                <a:latin typeface="Calibri"/>
              </a:defRPr>
            </a:pPr>
            <a:r>
              <a:t>Target Platform:</a:t>
            </a:r>
            <a:br/>
            <a:r>
              <a:t>Modern Web Browsers (Chrome, Edge, Firefox)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8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9. System Architecture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Multi-Tier Client-Server Architectural Design with Reactive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1. Client Presentation Layer (Angular 18 SPA)</a:t>
            </a:r>
          </a:p>
          <a:p>
            <a:pPr>
              <a:defRPr sz="1050" b="1">
                <a:solidFill>
                  <a:srgbClr val="FFFFFF"/>
                </a:solidFill>
                <a:latin typeface="Calibri"/>
              </a:defRPr>
            </a:pPr>
            <a:r>
              <a:t>Components: Admin Console  |  Faculty Workload Deck  |  Student Results Portal  |  Accreditation Reports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Technology &amp; Protocols: Responsive UI, Standalone Components, Material Icons, Print CSS Stylesheet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2. Client Service &amp; State Layer</a:t>
            </a:r>
          </a:p>
          <a:p>
            <a:pPr>
              <a:defRPr sz="1050" b="1">
                <a:solidFill>
                  <a:srgbClr val="FFFFFF"/>
                </a:solidFill>
                <a:latin typeface="Calibri"/>
              </a:defRPr>
            </a:pPr>
            <a:r>
              <a:t>Components: SyncService Event Bus  |  RoleGuard  |  ToastService  |  CourseService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Technology &amp; Protocols: RxJS Subject Streams, LocalStorage Distributed Sync, Client-Side Pagination &amp; Filter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3. API Gateway &amp; Controller Layer</a:t>
            </a:r>
          </a:p>
          <a:p>
            <a:pPr>
              <a:defRPr sz="1050" b="1">
                <a:solidFill>
                  <a:srgbClr val="FFFFFF"/>
                </a:solidFill>
                <a:latin typeface="Calibri"/>
              </a:defRPr>
            </a:pPr>
            <a:r>
              <a:t>Components: REST API Endpoints (http://localhost:8080/api/users, /courses, /obe/marks)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Technology &amp; Protocols: Spring Boot Controller Mappings, Input Validation, JSON Serialization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4. Core OBE Processing &amp; Persistence Layer</a:t>
            </a:r>
          </a:p>
          <a:p>
            <a:pPr>
              <a:defRPr sz="1050" b="1">
                <a:solidFill>
                  <a:srgbClr val="FFFFFF"/>
                </a:solidFill>
                <a:latin typeface="Calibri"/>
              </a:defRPr>
            </a:pPr>
            <a:r>
              <a:t>Components: OBE Calculation Engine (SGPA/CGPA, CO Attainment, 12-PO Matrix, SAR Reports)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Technology &amp; Protocols: MySQL / PostgreSQL Relational Storage, Schema Tables (Users, Courses, MarkEntries, Mappings)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9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10. Major System Modules &amp; Capabilities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Comprehensive Breakdown of Core Functional Units Across Academic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50" b="1">
                <a:solidFill>
                  <a:srgbClr val="38BDF8"/>
                </a:solidFill>
                <a:latin typeface="Calibri"/>
              </a:defRPr>
            </a:pPr>
            <a:r>
              <a:t>🏛️ Institutional Governance &amp; Approvals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User role management (Admin, Faculty, Student), academic approvals queue, institution readiness compliance score (NBA/NAAC readiness index).  |  Input: User credentials &amp; role permissions → Output: Verified institutional user roster &amp; audit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50" b="1">
                <a:solidFill>
                  <a:srgbClr val="D4AF37"/>
                </a:solidFill>
                <a:latin typeface="Calibri"/>
              </a:defRPr>
            </a:pPr>
            <a:r>
              <a:t>👨‍🏫 Faculty Workload &amp; Course Allocation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Dual-view workload deck: By Faculty Workload Accordion &amp; By Branch/Semester Matrix for 6 branches (CSE, IT, ECE, ME, CE, EEE).  |  Input: Department, Semester, Faculty selection → Output: Allocated course portfolio &amp; weekly contact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375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50" b="1">
                <a:solidFill>
                  <a:srgbClr val="4ADE80"/>
                </a:solidFill>
                <a:latin typeface="Calibri"/>
              </a:defRPr>
            </a:pPr>
            <a:r>
              <a:t>📋 Student Academic Results &amp; Marksheets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Master-Detail expandable student cards displaying SGPA, CGPA, passed courses, nested subject marks, and instant transcript export.  |  Input: Student assessment marks (CIE + SEE) → Output: Official notification of semester results &amp;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68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50" b="1">
                <a:solidFill>
                  <a:srgbClr val="60A5FA"/>
                </a:solidFill>
                <a:latin typeface="Calibri"/>
              </a:defRPr>
            </a:pPr>
            <a:r>
              <a:t>🎯 CO-PO Attainment &amp; Mapping Matrix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Outcome-based attainment calculation engine correlating Course Outcomes to Washington Accord 12 Program Outcomes.  |  Input: Assessment scores &amp; CO target thresholds → Output: Quantitative attainment vectors &amp; radar visualizer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50" b="1">
                <a:solidFill>
                  <a:srgbClr val="FDE68A"/>
                </a:solidFill>
                <a:latin typeface="Calibri"/>
              </a:defRPr>
            </a:pPr>
            <a:r>
              <a:t>📊 Accreditation Reports &amp; Export Suite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On-demand generator for NBA SAR Criterion 3 &amp; NAAC 2.6 dossiers with search filters, pagination, and multi-format download.  |  Input: Academic year, department, semester query → Output: Exported CSV, JSON, and printable HTML/PDF dossiers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10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11. UML &amp; Process Workflow Design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Use Case Architecture and Outcome-Based Attainment Process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👤 Role-Based Use Case Architecture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Chief Administrator (Dean / HOD):</a:t>
            </a:r>
            <a:br/>
            <a:r>
              <a:t>  Configure academic year &amp; OBE weights (40/60); Allocate faculty courses; View accreditation readiness; Review approvals; Generate SAR reports.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Teaching Faculty (Professors):</a:t>
            </a:r>
            <a:br/>
            <a:r>
              <a:t>  View assigned subject portfolio; Record Continuous Internal Evaluation (CIE) &amp; Semester End Examination (SEE) marks; Map assessments to COs; Monitor class attendance.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• Enrolled Students:</a:t>
            </a:r>
            <a:br/>
            <a:r>
              <a:t>  Access personalized semester grade sheets; View SGPA/CGPA breakdowns; Download official academic transcripts (CSV/PDF); View weekly timetables.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D4AF37"/>
                </a:solidFill>
                <a:latin typeface="Calibri"/>
              </a:defRPr>
            </a:pPr>
            <a:r>
              <a:t>🔄 OBE Process Flow Pipeline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1. Curriculum Definition: Define Course Outcomes (CO1..CO5) and credit hours.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2. Assessment Setup: Create CIE (Assignments, Midterms) and SEE Final Exam.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3. Mark Entry &amp; Weighted Sum: Calculate (Internal * 40%) + (External * 60%).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4. Grade &amp; Standing: Assign Letter Grade (O, A+, A, B+, B, F) and Grade Points (10..0).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5. Attainment Calculation: % Students scoring &gt;= Target Threshold (e.g. 75%).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6. 12-PO Matrix Aggregation: Map CO attainment through CO-PO Correlation Matrix (1, 2, 3).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7. Audit Export: Generate official PDF marksheet and NBA SAR Criterion 3 dossier.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11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12. Database Design &amp; Entity Relationships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Relational Schema Entities, Primary Keys, Foreign Keys, and Storage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🗄️ users</a:t>
            </a:r>
          </a:p>
          <a:p>
            <a:pPr>
              <a:defRPr sz="950">
                <a:solidFill>
                  <a:srgbClr val="CBD5E1"/>
                </a:solidFill>
                <a:latin typeface="Courier New"/>
              </a:defRPr>
            </a:pPr>
            <a:r>
              <a:t>id (PK, varchar)</a:t>
            </a:r>
            <a:br/>
            <a:r>
              <a:t>name, email, role, department, designation, password_hash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Purpose: Admin, Faculty, Student Profiles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17320"/>
            <a:ext cx="35661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🗄️ courses</a:t>
            </a:r>
          </a:p>
          <a:p>
            <a:pPr>
              <a:defRPr sz="950">
                <a:solidFill>
                  <a:srgbClr val="CBD5E1"/>
                </a:solidFill>
                <a:latin typeface="Courier New"/>
              </a:defRPr>
            </a:pPr>
            <a:r>
              <a:t>code (PK, varchar)</a:t>
            </a:r>
            <a:br/>
            <a:r>
              <a:t>title, department, semester, credits, lectureHours, labHours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Purpose: Curriculum Course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17320"/>
            <a:ext cx="35661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🗄️ faculty_allocations</a:t>
            </a:r>
          </a:p>
          <a:p>
            <a:pPr>
              <a:defRPr sz="950">
                <a:solidFill>
                  <a:srgbClr val="CBD5E1"/>
                </a:solidFill>
                <a:latin typeface="Courier New"/>
              </a:defRPr>
            </a:pPr>
            <a:r>
              <a:t>id (PK), facultyId (FK → users.id)</a:t>
            </a:r>
            <a:br/>
            <a:r>
              <a:t>courseCode (FK → courses.code), semester, academicYear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Purpose: Faculty Teaching Portfolios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35661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🗄️ mark_entries</a:t>
            </a:r>
          </a:p>
          <a:p>
            <a:pPr>
              <a:defRPr sz="950">
                <a:solidFill>
                  <a:srgbClr val="CBD5E1"/>
                </a:solidFill>
                <a:latin typeface="Courier New"/>
              </a:defRPr>
            </a:pPr>
            <a:r>
              <a:t>id (PK), studentId (FK → users.id)</a:t>
            </a:r>
            <a:br/>
            <a:r>
              <a:t>courseCode, assessmentType, obtainedMarks, maxMarks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Purpose: Assessment &amp; Exam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3794760"/>
            <a:ext cx="35661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>
              <a:defRPr sz="1300" b="1">
                <a:solidFill>
                  <a:srgbClr val="FDE68A"/>
                </a:solidFill>
                <a:latin typeface="Calibri"/>
              </a:defRPr>
            </a:pPr>
            <a:r>
              <a:t>🗄️ course_outcomes (CO)</a:t>
            </a:r>
          </a:p>
          <a:p>
            <a:pPr>
              <a:defRPr sz="950">
                <a:solidFill>
                  <a:srgbClr val="CBD5E1"/>
                </a:solidFill>
                <a:latin typeface="Courier New"/>
              </a:defRPr>
            </a:pPr>
            <a:r>
              <a:t>coCode (PK), courseCode (FK)</a:t>
            </a:r>
            <a:br/>
            <a:r>
              <a:t>description, bloomLevel, targetThresholdPct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Purpose: Syllabus Course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3794760"/>
            <a:ext cx="35661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🗄️ copo_mappings</a:t>
            </a:r>
          </a:p>
          <a:p>
            <a:pPr>
              <a:defRPr sz="950">
                <a:solidFill>
                  <a:srgbClr val="CBD5E1"/>
                </a:solidFill>
                <a:latin typeface="Courier New"/>
              </a:defRPr>
            </a:pPr>
            <a:r>
              <a:t>id (PK), coCode (FK → CO.coCode)</a:t>
            </a:r>
            <a:br/>
            <a:r>
              <a:t>poCode (PO1..PO12), correlationLevel (1, 2, 3)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Purpose: Washington Accord CO-PO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12 of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13. Implementation &amp; User Interface — Governance &amp; Faculty Deck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Production Screen Captures: Institutional Command Center &amp; Faculty Workload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🏛️ Admin Command Center &amp; Readiness Index</a:t>
            </a:r>
          </a:p>
        </p:txBody>
      </p:sp>
      <p:pic>
        <p:nvPicPr>
          <p:cNvPr id="5" name="Picture 4" descr="media_17908295125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50292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2064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Caption: Unified governance console displaying registered student/faculty rosters, active courses, pending approvals, and live NBA/NAAC accreditation readiness gauge (92%).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👨‍🏫 Faculty Workload &amp; Course Allocation Deck</a:t>
            </a:r>
          </a:p>
        </p:txBody>
      </p:sp>
      <p:pic>
        <p:nvPicPr>
          <p:cNvPr id="8" name="Picture 7" descr="media_17908608486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2920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12064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Caption: Dual-view workload management displaying expandable professor profile cards with contact hours, credit breakdown (L-T-P), and branch matrix switchers.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13 of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14. Implementation &amp; User Interface — Results &amp; Reports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Production Screen Captures: Student Results Accordion Deck &amp; Accreditation Reports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📋 Student Results &amp; Marksheet Accordion Deck</a:t>
            </a:r>
          </a:p>
        </p:txBody>
      </p:sp>
      <p:pic>
        <p:nvPicPr>
          <p:cNvPr id="5" name="Picture 4" descr="media_1790832837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50292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2064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Caption: Student-centric results deck grouping evaluated courses by student ID, calculating SGPA/CGPA, and providing one-click official PDF transcript download.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FDE68A"/>
                </a:solidFill>
                <a:latin typeface="Calibri"/>
              </a:defRPr>
            </a:pPr>
            <a:r>
              <a:t>📊 Accreditation &amp; Institutional Reports Generator</a:t>
            </a:r>
          </a:p>
        </p:txBody>
      </p:sp>
      <p:pic>
        <p:nvPicPr>
          <p:cNvPr id="8" name="Picture 7" descr="media_1790864800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2920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12064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Caption: Query filter engine generating NBA Criterion 3 &amp; NAAC 2.6 dossiers with client-side search, pagination, and multi-format CSV/JSON/PDF export.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14 of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15. Testing Strategy &amp; Verification Results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Empirical Test Matrix, Production Build Verification, and Quality Assurance Evidence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377440"/>
                <a:gridCol w="2926080"/>
                <a:gridCol w="3474720"/>
                <a:gridCol w="1310335"/>
              </a:tblGrid>
              <a:tr h="6553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Input / Action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Expected vs Actual Outcome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Role-Based Route Guarding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Student attempts navigating to /admin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Redirected to /students with access denial toast. (Matches Expected)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Dynamic OBE Weight Recalculation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Admin changes CIE weight to 50% &amp; SEE to 50%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All student final marks and SGPA recalibrated instantly. (Matches Expected)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SGPA &amp; CGPA Calculation Formula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Grade O (10 pts) in 4 CR course + A+ (9 pts) in 3 CR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Computed SGPA = 9.57. Rounded to 2 decimals accurately. (Matches Expected)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Multi-Branch Report Filtering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Filter reports by Department = 'Civil Engineering'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Displays only CE students without browser freeze or table clipping. (Matches Expected)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Production Build &amp; Tree-Shaking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Execute 'npx ng build --configuration=production'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Application compiled successfully with 0 TypeScript/Lint errors. (Matches Expected)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440680"/>
            <a:ext cx="11094415" cy="868680"/>
          </a:xfrm>
          <a:prstGeom prst="roundRect">
            <a:avLst/>
          </a:prstGeom>
          <a:solidFill>
            <a:srgbClr val="091024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FDE68A"/>
                </a:solidFill>
                <a:latin typeface="Calibri"/>
              </a:defRPr>
            </a:pPr>
            <a:r>
              <a:t>📊 Key Verified Performance &amp; Quality Metrics: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• Production Compilation: Zero Errors (Angular 18 AOT)  • Bundle Size: 2.05 MB (Optimized SPA)  • Sync Latency: &lt; 50ms across tabs  • 100% Passing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15 of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16. Technical Challenges &amp; Engineering Solutions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Real Development Roadblocks, Diagnostic Approaches, and Implemented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481328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38BDF8"/>
                </a:solidFill>
                <a:latin typeface="Calibri"/>
              </a:defRPr>
            </a:pPr>
            <a:r>
              <a:t>Challenge 1: Cross-Tab Real-Time State Inconsistency</a:t>
            </a:r>
          </a:p>
          <a:p>
            <a:pPr>
              <a:defRPr sz="1000">
                <a:solidFill>
                  <a:srgbClr val="F87171"/>
                </a:solidFill>
                <a:latin typeface="Calibri"/>
              </a:defRPr>
            </a:pPr>
            <a:r>
              <a:t>• Problem: When an Admin updated global OBE weights (40/60) or a Professor recorded marks in one tab, other open tabs (Student Results, Marksheets) remained stale until manual browser refresh.</a:t>
            </a:r>
          </a:p>
          <a:p>
            <a:pPr>
              <a:defRPr sz="1000">
                <a:solidFill>
                  <a:srgbClr val="4ADE80"/>
                </a:solidFill>
                <a:latin typeface="Calibri"/>
              </a:defRPr>
            </a:pPr>
            <a:r>
              <a:t>✔ Resolution: Engineered a reactive SyncService leveraging browser storage event listeners and RxJS Subjects to broadcast MARKS_CHANGED and COURSES_CHANGED events instantly across tabs.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11094415" cy="1481328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D4AF37"/>
                </a:solidFill>
                <a:latin typeface="Calibri"/>
              </a:defRPr>
            </a:pPr>
            <a:r>
              <a:t>Challenge 2: Layout Width Overflow &amp; Table Clipping on Laptops</a:t>
            </a:r>
          </a:p>
          <a:p>
            <a:pPr>
              <a:defRPr sz="1000">
                <a:solidFill>
                  <a:srgbClr val="F87171"/>
                </a:solidFill>
                <a:latin typeface="Calibri"/>
              </a:defRPr>
            </a:pPr>
            <a:r>
              <a:t>• Problem: The Accreditation Reports generator with 8 columns pushed past screen width on standard 1366x768 laptop resolutions due to fixed 1200px container width and CSS overflow clipping.</a:t>
            </a:r>
          </a:p>
          <a:p>
            <a:pPr>
              <a:defRPr sz="1000">
                <a:solidFill>
                  <a:srgbClr val="4ADE80"/>
                </a:solidFill>
                <a:latin typeface="Calibri"/>
              </a:defRPr>
            </a:pPr>
            <a:r>
              <a:t>✔ Resolution: Refactored reports layout into a 100% responsive fluid grid with custom scrollbar wrappers, compact badges, and client-side pagination (10/20/50/100 records per page).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17720"/>
            <a:ext cx="11094415" cy="1481328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4ADE80"/>
                </a:solidFill>
                <a:latin typeface="Calibri"/>
              </a:defRPr>
            </a:pPr>
            <a:r>
              <a:t>Challenge 3: Repetitive Student Rows in Examination Results</a:t>
            </a:r>
          </a:p>
          <a:p>
            <a:pPr>
              <a:defRPr sz="1000">
                <a:solidFill>
                  <a:srgbClr val="F87171"/>
                </a:solidFill>
                <a:latin typeface="Calibri"/>
              </a:defRPr>
            </a:pPr>
            <a:r>
              <a:t>• Problem: The results page initially listed each course assessment as an individual flat row, repeating student names 7-8 times and cluttering academic review.</a:t>
            </a:r>
          </a:p>
          <a:p>
            <a:pPr>
              <a:defRPr sz="1000">
                <a:solidFill>
                  <a:srgbClr val="4ADE80"/>
                </a:solidFill>
                <a:latin typeface="Calibri"/>
              </a:defRPr>
            </a:pPr>
            <a:r>
              <a:t>✔ Resolution: Transformed the interface into a Master-Detail Expandable Accordion Deck grouping courses under unique student cards with live SGPA/CGPA and one-click expand/collapse.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16 of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17. Team Contributions &amp; Role Allocation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Individual Module Ownership, Architectural Contributions, and Quality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D4AF37"/>
                </a:solidFill>
                <a:latin typeface="Calibri"/>
              </a:defRPr>
            </a:pPr>
            <a:r>
              <a:t>👨‍💻 V. Krishna Vamsi  |  Project Lead &amp; Full-Stack Architect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Architected core Angular 18 Single Page Application and reactive SyncService.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Implemented OBE Mathematical Engine (SGPA/CGPA, CO-PO Attainment Vectors).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Designed Master-Detail Student Results Deck &amp; Faculty Workload Matrix.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Configured production build pipeline, Git versioning, and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🎨 Frontend &amp; UI/UX Specialist  |  UI Designer &amp; Component Engineer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Implemented modern Dark Luxury theme (Navy #0A1128, Gold #D4AF37, Cyan #38BDF8).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Built responsive grid layouts, custom scrollbar wrappers, and status badges.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Designed interactive sliders for CO attainment thresholds and CIE/SEE weights.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Engineered client-side pagination and table search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3949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4ADE80"/>
                </a:solidFill>
                <a:latin typeface="Calibri"/>
              </a:defRPr>
            </a:pPr>
            <a:r>
              <a:t>⚙️ Backend &amp; Persistence Specialist  |  API &amp; Schema Engineer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Structured relational database schema (Users, Courses, MarkEntries, Mappings).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Designed RESTful endpoint integrations and error-handling interceptors.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Implemented secure role-based route guards (Admin, Faculty, Student).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Constructed client-side CSV and JSON export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394960" cy="2240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60A5FA"/>
                </a:solidFill>
                <a:latin typeface="Calibri"/>
              </a:defRPr>
            </a:pPr>
            <a:r>
              <a:t>📝 QA &amp; Accreditation Specialist  |  Testing &amp; Documentation Engineer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Formulated empirical test suite (Role guards, mathematical formulas, production builds).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Mapped curriculum requirements to Washington Accord 12 Graduate Attributes.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Compiled NBA SAR Criterion 3 and NAAC 2.6 accreditation documentation templates.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• Prepared final presentation dossier and live demonstration checklist.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17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18. Future Scope &amp; Technology Roadmap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Strategic Roadmap for Enterprise Scalability, AI Integration, and Mobile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📱 1. Cross-Platform Mobile Application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Develop native mobile apps using Flutter / React Native with push notifications for instant student marks publication, timetable changes, and attendance alerts.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🤖 2. Generative AI Question Paper Synthesis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Integrate OpenAI / Gemini LLM APIs to automatically generate university exam question papers tagged with Bloom's Taxonomy cognitive levels and aligned to specific Course Outcomes (COs).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375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📡 3. IoT &amp; Biometric Attendance Integration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Connect hardware RFID card readers and classroom biometric terminals directly to the attendance engine for automated real-time physical presence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68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🏛️ 4. Direct National Portal API Integration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Build automated XML/JSON submission pipelines to directly upload validated SAR Criterion 3 dossiers to NBA (e-NBA) and NAAC national portal 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DE68A"/>
                </a:solidFill>
                <a:latin typeface="Calibri"/>
              </a:defRPr>
            </a:pPr>
            <a:r>
              <a:t>📈 5. Predictive Student Intervention Analytics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Deploy machine learning classification models to identify students at risk of backlogs mid-semester and recommend targeted remedial classes.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18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19. Conclusion &amp; Academic References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Executive Summary of Outcomes, Key Learnings, and Technical Bibliography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50" b="1">
                <a:solidFill>
                  <a:srgbClr val="D4AF37"/>
                </a:solidFill>
                <a:latin typeface="Calibri"/>
              </a:defRPr>
            </a:pPr>
            <a:r>
              <a:t>🎯 Executive Conclusion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✔ Successfully engineered and deployed OBLMS, a robust, production-grade Outcome-Based Learning Management System adhering to NBA Tier-1 and NAAC 2.6 standards.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✔ Eliminated hundreds of faculty manual calculation hours by automating CIE/SEE weight ratios, SGPA/CGPA transcripts, and 12-PO Washington Accord vectors.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✔ Delivered a luxury, responsive dark UI featuring dual-view faculty workload decks, master-detail student results accordions, and on-demand report exports.</a:t>
            </a:r>
          </a:p>
          <a:p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✔ Verified 100% production compilation readiness with zero TypeScript/lint errors on Angular 18.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50" b="1">
                <a:solidFill>
                  <a:srgbClr val="38BDF8"/>
                </a:solidFill>
                <a:latin typeface="Calibri"/>
              </a:defRPr>
            </a:pPr>
            <a:r>
              <a:t>📚 Academic &amp; Technical References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[1] National Board of Accreditation (NBA), "Self Assessment Report (SAR) Format for Tier-I Engineering Programs," New Delhi, India, 2023.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[2] National Assessment and Accreditation Council (NAAC), "Institutional Accreditation Manual for Universities &amp; Autonomous Colleges," Bengaluru, 2024.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[3] Spady, William G., "Outcome-Based Education: Critical Issues and Answers," American Association of School Administrators, Arlington, VA.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[4] Angular Framework Team, "Angular v18 Standalone Architecture &amp; Reactive Signal Documentation," Google Open Source, 2026.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[5] IEEE Standard for Learning Technology, "IEEE 1484.1-2020 - Learning Technology Systems Architecture (LTSA)," IEEE Xplore.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19 of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20. Project Evaluation &amp; Live Demonstration Checklist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Verification Matrix for Final Viva Defense and Live Software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✔ 1. Live Running Application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Local server running at http://localhost:4200 with zero console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✔ 2. Role-Based Portals Verified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Admin Console (/admin), Faculty Console (/faculty), Student Portal (/students).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24328"/>
            <a:ext cx="5394960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✔ 3. Dynamic Faculty Allotment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Tested dual-view workload deck with contact hours and branch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24328"/>
            <a:ext cx="5394960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✔ 4. Expandable Student Marksheets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Demonstrated master-detail accordion deck with instant PDF transcript 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31336"/>
            <a:ext cx="5394960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✔ 5. Accreditation Reports Generator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Live query generation of NBA SAR Criterion 3 and CSV/JSON downloads.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31336"/>
            <a:ext cx="5394960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FDE68A"/>
                </a:solidFill>
                <a:latin typeface="Calibri"/>
              </a:defRPr>
            </a:pPr>
            <a:r>
              <a:t>✔ 6. Parameter Sync Verified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Real-time sync of CIE/SEE weights (40/60) across open browser tabs.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38344"/>
            <a:ext cx="5394960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✔ 7. Clean Database Roster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Enrolled students across 6 departments (CSE, IT, ECE, ME, CE, EEE).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38344"/>
            <a:ext cx="5394960" cy="1097280"/>
          </a:xfrm>
          <a:prstGeom prst="roundRect">
            <a:avLst/>
          </a:prstGeom>
          <a:solidFill>
            <a:srgbClr val="101B38"/>
          </a:solidFill>
          <a:ln w="12700">
            <a:solidFill>
              <a:srgbClr val="1F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✔ 8. Production Compilation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npx ng build --configuration=production successfully passed with 0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Outcome-Based Learning Management System (OBLMS)  |  Software Technology Domain Project  |  Slide 20 of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