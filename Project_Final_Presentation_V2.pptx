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0728655" cy="557784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914400"/>
            <a:ext cx="5943600" cy="457200"/>
          </a:xfrm>
          <a:prstGeom prst="roundRect">
            <a:avLst/>
          </a:prstGeom>
          <a:solidFill>
            <a:srgbClr val="091024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D4AF37"/>
                </a:solidFill>
                <a:latin typeface="Calibri"/>
              </a:defRPr>
            </a:pPr>
            <a:r>
              <a:t>🏛️ SOFTWARE TECHNOLOGY DOMAIN  | 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087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Outcome-Based Learning Management &amp;</a:t>
            </a:r>
            <a:br/>
            <a:r>
              <a:t>Accreditation Governance System (OBLMS)</a:t>
            </a:r>
          </a:p>
          <a:p>
            <a:pPr>
              <a:defRPr sz="1500">
                <a:solidFill>
                  <a:srgbClr val="38BDF8"/>
                </a:solidFill>
                <a:latin typeface="Calibri"/>
              </a:defRPr>
            </a:pPr>
            <a:r>
              <a:t>An Enterprise Platform for Automated CO-PO Attainment, Faculty Workload &amp; Marksheet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383280"/>
            <a:ext cx="4754880" cy="2377440"/>
          </a:xfrm>
          <a:prstGeom prst="roundRect">
            <a:avLst/>
          </a:prstGeom>
          <a:solidFill>
            <a:srgbClr val="091024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500" b="1">
                <a:solidFill>
                  <a:srgbClr val="FDE68A"/>
                </a:solidFill>
                <a:latin typeface="Calibri"/>
              </a:defRPr>
            </a:pPr>
            <a:r>
              <a:t>👥 Project Author &amp; Student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Student Name: V. Krishna Vamsi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Registration No: CUTM2026CSE042 (STU004)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Program: B.Tech Computer Science &amp; Engg.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Academic Year: 2026 – 2027 (Final Year B.Tech)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383280"/>
            <a:ext cx="4937760" cy="2377440"/>
          </a:xfrm>
          <a:prstGeom prst="roundRect">
            <a:avLst/>
          </a:prstGeom>
          <a:solidFill>
            <a:srgbClr val="091024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500" b="1">
                <a:solidFill>
                  <a:srgbClr val="FDE68A"/>
                </a:solidFill>
                <a:latin typeface="Calibri"/>
              </a:defRPr>
            </a:pPr>
            <a:r>
              <a:t>🏛️ Supervision &amp; Institution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Project Guide: Project Faculty Guide / Supervisor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Department: Dept. of Computer Science &amp; Engineering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University: Centurion University of Technology &amp; Management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Accreditation: NBA Tier-1 &amp; NAAC 2.6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1 of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2. Introduction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Real-World Context, Stakeholders &amp; High-Level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35661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 rIns="201168"/>
          <a:lstStyle/>
          <a:p>
            <a:pPr algn="ctr">
              <a:defRPr sz="1700" b="1">
                <a:solidFill>
                  <a:srgbClr val="38BDF8"/>
                </a:solidFill>
                <a:latin typeface="Calibri"/>
              </a:defRPr>
            </a:pPr>
            <a:r>
              <a:t>🌍 Real-World Context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Outcome-Based Education (OBE) is mandatory for NBA Tier-1 and NAAC accreditations.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Institutions must quantify student learning outcomes and map exams to CO-PO benchmarks.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Manual tracking in spreadsheets creates massive friction and calculation errors.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79" y="1417320"/>
            <a:ext cx="35661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 rIns="201168"/>
          <a:lstStyle/>
          <a:p>
            <a:pPr algn="ctr">
              <a:defRPr sz="1700" b="1">
                <a:solidFill>
                  <a:srgbClr val="D4AF37"/>
                </a:solidFill>
                <a:latin typeface="Calibri"/>
              </a:defRPr>
            </a:pPr>
            <a:r>
              <a:t>👥 Core Stakeholders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Chief Administrator / Dean: Sets global grading weights &amp; exports NBA SAR reports.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Teaching Faculty: Manages subject workloads, grades exams &amp; maps questions to COs.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Enrolled Students: Views dynamic SGPA/CGPA marksheets &amp; official PDF transcripts.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19" y="1417320"/>
            <a:ext cx="35661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 rIns="201168"/>
          <a:lstStyle/>
          <a:p>
            <a:pPr algn="ctr">
              <a:defRPr sz="1700" b="1">
                <a:solidFill>
                  <a:srgbClr val="4ADE80"/>
                </a:solidFill>
                <a:latin typeface="Calibri"/>
              </a:defRPr>
            </a:pPr>
            <a:r>
              <a:t>💻 The Solution: OBLMS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Enterprise single-page web application built with Angular 18 and Java/Spring Boot.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Automates curriculum allocation, weighted grading, SGPA/CGPA, and SAR reporting.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Features real-time state synchronization across browser tabs with zero lag.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2 of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3. Problem Statement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Critical Institutional Pain Points &amp; Need for Modern Automation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700" b="1">
                <a:solidFill>
                  <a:srgbClr val="F87171"/>
                </a:solidFill>
                <a:latin typeface="Calibri"/>
              </a:defRPr>
            </a:pPr>
            <a:r>
              <a:t>⚠️ Existing Process Limitations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Fragmented Excel Files: Marks stored in separate spreadsheets across teachers cause data loss and inconsistency.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Complex Manual Formulas: Calculating 40% CIE / 60% SEE weighted marks and 12-PO vectors by hand takes hundreds of hours.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No Real-Time Visibility: HODs lack a centralized dashboard to track faculty workloads and unassigned subjects.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Delayed Accreditation Reports: Consolidating student dossiers for NBA/NAAC inspection takes weeks of emergency effort.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700" b="1">
                <a:solidFill>
                  <a:srgbClr val="D4AF37"/>
                </a:solidFill>
                <a:latin typeface="Calibri"/>
              </a:defRPr>
            </a:pPr>
            <a:r>
              <a:t>🎯 The Engineering Objective</a:t>
            </a:r>
          </a:p>
          <a:p>
            <a:pPr>
              <a:defRPr sz="1500" b="1">
                <a:solidFill>
                  <a:srgbClr val="38BDF8"/>
                </a:solidFill>
                <a:latin typeface="Calibri"/>
              </a:defRPr>
            </a:pPr>
            <a:r>
              <a:t>"To replace manual spreadsheets with a unified, reactive web platform that automates multi-department curriculum allocation, calculates live SGPA/CGPA marksheets, and compiles instant NBA SAR dossiers with zero human error."</a:t>
            </a:r>
          </a:p>
          <a:p>
            <a:br/>
            <a:pPr>
              <a:defRPr sz="1400" b="1">
                <a:solidFill>
                  <a:srgbClr val="FFFFFF"/>
                </a:solidFill>
                <a:latin typeface="Calibri"/>
              </a:defRPr>
            </a:pPr>
            <a:r>
              <a:t>Target Quality Goals:</a:t>
            </a:r>
          </a:p>
          <a:p>
            <a:pPr>
              <a:defRPr sz="1350">
                <a:solidFill>
                  <a:srgbClr val="4ADE80"/>
                </a:solidFill>
                <a:latin typeface="Calibri"/>
              </a:defRPr>
            </a:pPr>
            <a:r>
              <a:t>✔ Zero calculation errors across 8 semesters and 6 departments.</a:t>
            </a:r>
          </a:p>
          <a:p>
            <a:pPr>
              <a:defRPr sz="1350">
                <a:solidFill>
                  <a:srgbClr val="4ADE80"/>
                </a:solidFill>
                <a:latin typeface="Calibri"/>
              </a:defRPr>
            </a:pPr>
            <a:r>
              <a:t>✔ Sub-second sync between mark entry and student transcripts.</a:t>
            </a:r>
          </a:p>
          <a:p>
            <a:pPr>
              <a:defRPr sz="1350">
                <a:solidFill>
                  <a:srgbClr val="4ADE80"/>
                </a:solidFill>
                <a:latin typeface="Calibri"/>
              </a:defRPr>
            </a:pPr>
            <a:r>
              <a:t>✔ Instant one-click official PDF and CSV dossier exports.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3 of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4. Objectives of the Project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Specific Functional and Technical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46304" rIns="228600"/>
          <a:lstStyle/>
          <a:p>
            <a:pPr algn="ctr">
              <a:defRPr sz="1600" b="1">
                <a:solidFill>
                  <a:srgbClr val="38BDF8"/>
                </a:solidFill>
                <a:latin typeface="Calibri"/>
              </a:defRPr>
            </a:pPr>
            <a:r>
              <a:t>1. Automated OBE Attainment Engine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Compute direct/indirect Course Outcome (CO) and 12-Program Outcome (PO) matrices based on custom threshold benchmarks (e.g. 75%).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24328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46304" rIns="228600"/>
          <a:lstStyle/>
          <a:p>
            <a:pPr algn="ctr">
              <a:defRPr sz="1600" b="1">
                <a:solidFill>
                  <a:srgbClr val="D4AF37"/>
                </a:solidFill>
                <a:latin typeface="Calibri"/>
              </a:defRPr>
            </a:pPr>
            <a:r>
              <a:t>2. Dual-View Faculty Workload Deck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Provide interactive workload governance (By Faculty Deck &amp; By Branch/Semester Matrix) across 6 branches (CSE, IT, ECE, ME, CE, EEE).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31336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46304" rIns="228600"/>
          <a:lstStyle/>
          <a:p>
            <a:pPr algn="ctr">
              <a:defRPr sz="1600" b="1">
                <a:solidFill>
                  <a:srgbClr val="4ADE80"/>
                </a:solidFill>
                <a:latin typeface="Calibri"/>
              </a:defRPr>
            </a:pPr>
            <a:r>
              <a:t>3. Student Results &amp; Marksheet System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Implement Master-Detail expandable student cards with live SGPA/CGPA calculations and single-click official PDF transcript export.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38344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46304" rIns="228600"/>
          <a:lstStyle/>
          <a:p>
            <a:pPr algn="ctr">
              <a:defRPr sz="1600" b="1">
                <a:solidFill>
                  <a:srgbClr val="60A5FA"/>
                </a:solidFill>
                <a:latin typeface="Calibri"/>
              </a:defRPr>
            </a:pPr>
            <a:r>
              <a:t>4. Instant Accreditation Reporting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Build an automated NBA SAR Criterion 3 and NAAC 2.6 report generator with real-time filters, search, and CSV/JSON/PDF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4 of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5. Existing System vs Proposed System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Direct Comparison of Operational Capabilities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9441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023360"/>
                <a:gridCol w="4144975"/>
              </a:tblGrid>
              <a:tr h="9326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F37"/>
                          </a:solidFill>
                          <a:latin typeface="Calibri"/>
                        </a:defRPr>
                      </a:pPr>
                      <a:r>
                        <a:t>Operational Area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F37"/>
                          </a:solidFill>
                          <a:latin typeface="Calibri"/>
                        </a:defRPr>
                      </a:pPr>
                      <a:r>
                        <a:t>Manual Existing System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F37"/>
                          </a:solidFill>
                          <a:latin typeface="Calibri"/>
                        </a:defRPr>
                      </a:pPr>
                      <a:r>
                        <a:t>Proposed OBLMS Platform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Curriculum &amp; Allotment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Standalone Word/Excel files per branch.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Centralized Dual-View Faculty Workload Deck.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OBE Mark Evaluation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Manual 40/60 weight math on paper.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Automated CIE/SEE calculation &amp; instant grades.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Student Results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Flat noticeboard lists with repeat rows.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Master-Detail expandable cards with SGPA/CGPA.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Accreditation Dossiers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Weeks of manual compilation before visit.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One-click NBA SAR Criterion 3 &amp; NAAC 2.6 PDF/CSV.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5 of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6. Proposed System Architecture &amp; Workflow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End-to-End Academic Automation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606040" cy="365760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82880" rIns="164592"/>
          <a:lstStyle/>
          <a:p>
            <a:pPr algn="ctr">
              <a:defRPr sz="1500" b="1">
                <a:solidFill>
                  <a:srgbClr val="38BDF8"/>
                </a:solidFill>
                <a:latin typeface="Calibri"/>
              </a:defRPr>
            </a:pPr>
            <a:r>
              <a:t>Step 1: Curriculum &amp; Policy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Admin sets academic session (2026-27).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Configures CIE/SEE weights (40/60%).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Establishes CO target threshold (75%).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417320"/>
            <a:ext cx="2606040" cy="365760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82880" rIns="164592"/>
          <a:lstStyle/>
          <a:p>
            <a:pPr algn="ctr">
              <a:defRPr sz="1500" b="1">
                <a:solidFill>
                  <a:srgbClr val="60A5FA"/>
                </a:solidFill>
                <a:latin typeface="Calibri"/>
              </a:defRPr>
            </a:pPr>
            <a:r>
              <a:t>Step 2: Workload Allotment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HOD assigns courses to professors.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Covers 6 branches (CSE, IT, ECE, ME, CE, EEE).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Monitors weekly contact hours &amp; credits.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2606040" cy="365760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82880" rIns="164592"/>
          <a:lstStyle/>
          <a:p>
            <a:pPr algn="ctr">
              <a:defRPr sz="1500" b="1">
                <a:solidFill>
                  <a:srgbClr val="D4AF37"/>
                </a:solidFill>
                <a:latin typeface="Calibri"/>
              </a:defRPr>
            </a:pPr>
            <a:r>
              <a:t>Step 3: Continuous Grading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Faculty records internal CIE &amp; final SEE marks.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Marks map directly to Course Outcomes.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Instant validation prevents out-of-range entry.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417320"/>
            <a:ext cx="2606040" cy="365760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82880" rIns="164592"/>
          <a:lstStyle/>
          <a:p>
            <a:pPr algn="ctr">
              <a:defRPr sz="1500" b="1">
                <a:solidFill>
                  <a:srgbClr val="4ADE80"/>
                </a:solidFill>
                <a:latin typeface="Calibri"/>
              </a:defRPr>
            </a:pPr>
            <a:r>
              <a:t>Step 4: Automated Output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Engine computes SGPA, CGPA &amp; standings.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Generates expandable student marksheets.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Exports compliant NBA SAR dossiers.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57800"/>
            <a:ext cx="11094415" cy="960120"/>
          </a:xfrm>
          <a:prstGeom prst="roundRect">
            <a:avLst/>
          </a:prstGeom>
          <a:solidFill>
            <a:srgbClr val="091024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350" b="1">
                <a:solidFill>
                  <a:srgbClr val="FDE68A"/>
                </a:solidFill>
                <a:latin typeface="Calibri"/>
              </a:defRPr>
            </a:pPr>
            <a:r>
              <a:t>🌟 Key Architectural Highlights: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• Angular 18 Standalone Architecture  • Reactive SyncService Event Bus  • Multi-Tier Role Guards  • One-Click PDF/CSV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6 of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7. Scope of the Project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Implemented Capabilities vs Future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700" b="1">
                <a:solidFill>
                  <a:srgbClr val="4ADE80"/>
                </a:solidFill>
                <a:latin typeface="Calibri"/>
              </a:defRPr>
            </a:pPr>
            <a:r>
              <a:t>✅ Implemented Features (In Scope)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Role-Based Governance: Admin, Faculty, and Student portals with Angular Route Guards.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Dual-View Faculty Workload Deck: Workload cards with contact hours, credits, and branch matrix.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Expandable Results Deck: Student cards with SGPA/CGPA and one-click PDF transcript export.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NBA/NAAC Reports Generator: Multi-parameter query filters, pagination, and CSV/JSON export.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Global Policy Controls: Interactive CIE/SEE weight ratio sliders and CO target benchmarks.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700" b="1">
                <a:solidFill>
                  <a:srgbClr val="38BDF8"/>
                </a:solidFill>
                <a:latin typeface="Calibri"/>
              </a:defRPr>
            </a:pPr>
            <a:r>
              <a:t>🚀 Future Roadmap (Outside Current Scope)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Mobile Applications: Native Flutter / React Native mobile apps for student push alerts.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AI Question Synthesis: Generative AI exam paper generation with Bloom's Taxonomy tagging.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Biometric &amp; RFID Attendance: Hardware IoT sensors for physical classroom attendance logging.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• University ERP Bridge: Integration with university fee payment and finance accounting systems.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7 of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8. Technology Stack &amp; Tooling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Engineering Layers, Libraries, Languages, and DevOps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60604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82880" rIns="164592"/>
          <a:lstStyle/>
          <a:p>
            <a:pPr algn="ctr">
              <a:defRPr sz="1600" b="1">
                <a:solidFill>
                  <a:srgbClr val="38BDF8"/>
                </a:solidFill>
                <a:latin typeface="Calibri"/>
              </a:defRPr>
            </a:pPr>
            <a:r>
              <a:t>🎨 Frontend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Framework: Angular 18 Standalone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Language: TypeScript 5.4 / JS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Styling: CSS3, Flexbox, Grid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State: RxJS Observables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Theme: Dark Luxury Theme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417320"/>
            <a:ext cx="260604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82880" rIns="164592"/>
          <a:lstStyle/>
          <a:p>
            <a:pPr algn="ctr">
              <a:defRPr sz="1600" b="1">
                <a:solidFill>
                  <a:srgbClr val="60A5FA"/>
                </a:solidFill>
                <a:latin typeface="Calibri"/>
              </a:defRPr>
            </a:pPr>
            <a:r>
              <a:t>⚙️ Backend &amp; APIs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Platform: Java 17 / Spring Boot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Architecture: RESTful JSON APIs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Client: Angular HttpClient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Sync Bus: SyncService Broadcast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Security: Role-Based Route Guards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260604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82880" rIns="164592"/>
          <a:lstStyle/>
          <a:p>
            <a:pPr algn="ctr">
              <a:defRPr sz="1600" b="1">
                <a:solidFill>
                  <a:srgbClr val="4ADE80"/>
                </a:solidFill>
                <a:latin typeface="Calibri"/>
              </a:defRPr>
            </a:pPr>
            <a:r>
              <a:t>💾 Database &amp; Cache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Database: MySQL / PostgreSQL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Client Cache: LocalStorage Sync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Data Models: TypeScript DTOs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Export: CSV Streams, JSON, PDF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Performance: Sub-50ms query filter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417320"/>
            <a:ext cx="260604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82880" rIns="164592"/>
          <a:lstStyle/>
          <a:p>
            <a:pPr algn="ctr">
              <a:defRPr sz="1600" b="1">
                <a:solidFill>
                  <a:srgbClr val="D4AF37"/>
                </a:solidFill>
                <a:latin typeface="Calibri"/>
              </a:defRPr>
            </a:pPr>
            <a:r>
              <a:t>🛠️ Tools &amp; DevOps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IDE: Visual Studio Code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Versioning: Git &amp; GitHub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Package: Node.js 20+ &amp; npm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Verification: Production Build (0 errors)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Target: Modern Web Browsers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8 of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9. System Architecture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Multi-Tier Client-Server Architecture with Reactive Data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94415" cy="1097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28016"/>
          <a:lstStyle/>
          <a:p>
            <a:pPr algn="ctr">
              <a:defRPr sz="1500" b="1">
                <a:solidFill>
                  <a:srgbClr val="38BDF8"/>
                </a:solidFill>
                <a:latin typeface="Calibri"/>
              </a:defRPr>
            </a:pPr>
            <a:r>
              <a:t>1. Client Presentation Layer (Angular 18 SPA)</a:t>
            </a:r>
          </a:p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Components: Admin Console  |  Faculty Workload Deck  |  Student Results Portal  |  Accreditation Reports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Technology: Responsive UI, Standalone Components, Material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24328"/>
            <a:ext cx="11094415" cy="1097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28016"/>
          <a:lstStyle/>
          <a:p>
            <a:pPr algn="ctr">
              <a:defRPr sz="1500" b="1">
                <a:solidFill>
                  <a:srgbClr val="60A5FA"/>
                </a:solidFill>
                <a:latin typeface="Calibri"/>
              </a:defRPr>
            </a:pPr>
            <a:r>
              <a:t>2. Client Service &amp; Reactive State Layer</a:t>
            </a:r>
          </a:p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Components: SyncService Event Bus  |  RoleGuard  |  ToastService  |  CourseService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Technology: RxJS Subject Streams, LocalStorage Distributed Sync, Client-Side Pagination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31336"/>
            <a:ext cx="11094415" cy="1097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28016"/>
          <a:lstStyle/>
          <a:p>
            <a:pPr algn="ctr">
              <a:defRPr sz="1500" b="1">
                <a:solidFill>
                  <a:srgbClr val="D4AF37"/>
                </a:solidFill>
                <a:latin typeface="Calibri"/>
              </a:defRPr>
            </a:pPr>
            <a:r>
              <a:t>3. API Gateway &amp; Controller Layer</a:t>
            </a:r>
          </a:p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Components: REST API Endpoints (http://localhost:8080/api/users, /courses, /obe/marks)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Technology: Spring Boot Controller Mappings, Input Validation, JSON Serialization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38344"/>
            <a:ext cx="11094415" cy="1097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28016"/>
          <a:lstStyle/>
          <a:p>
            <a:pPr algn="ctr">
              <a:defRPr sz="1500" b="1">
                <a:solidFill>
                  <a:srgbClr val="4ADE80"/>
                </a:solidFill>
                <a:latin typeface="Calibri"/>
              </a:defRPr>
            </a:pPr>
            <a:r>
              <a:t>4. OBE Processing &amp; Persistence Layer</a:t>
            </a:r>
          </a:p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Components: OBE Calculation Engine (SGPA/CGPA, CO Attainment, 12-PO Matrix, SAR Reports)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Technology: MySQL / PostgreSQL Database, Schema Tables (Users, Courses, Marks, Mappings)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9 of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10. Major System Modules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Core Functional Units Across User Portals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46304"/>
          <a:lstStyle/>
          <a:p>
            <a:pPr algn="ctr">
              <a:defRPr sz="1550" b="1">
                <a:solidFill>
                  <a:srgbClr val="38BDF8"/>
                </a:solidFill>
                <a:latin typeface="Calibri"/>
              </a:defRPr>
            </a:pPr>
            <a:r>
              <a:t>🏛️ Institutional Governance &amp; Approvals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User role management (Admin, Faculty, Student), academic approvals queue, and live institutional readiness index (92% NBA/NAAC compliance).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24328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46304"/>
          <a:lstStyle/>
          <a:p>
            <a:pPr algn="ctr">
              <a:defRPr sz="1550" b="1">
                <a:solidFill>
                  <a:srgbClr val="D4AF37"/>
                </a:solidFill>
                <a:latin typeface="Calibri"/>
              </a:defRPr>
            </a:pPr>
            <a:r>
              <a:t>👨‍🏫 Faculty Workload &amp; Course Allocation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Dual-view interactive allocation matrix (By Faculty Deck &amp; By Branch/Semester Matrix) with contact hours and credit caps for 6 departments.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31336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46304"/>
          <a:lstStyle/>
          <a:p>
            <a:pPr algn="ctr">
              <a:defRPr sz="1550" b="1">
                <a:solidFill>
                  <a:srgbClr val="4ADE80"/>
                </a:solidFill>
                <a:latin typeface="Calibri"/>
              </a:defRPr>
            </a:pPr>
            <a:r>
              <a:t>📋 Student Academic Results &amp; Marksheets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Master-Detail expandable student cards displaying SGPA, CGPA, passed courses, nested subject marks, and instant transcript export.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38344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46304"/>
          <a:lstStyle/>
          <a:p>
            <a:pPr algn="ctr">
              <a:defRPr sz="1550" b="1">
                <a:solidFill>
                  <a:srgbClr val="60A5FA"/>
                </a:solidFill>
                <a:latin typeface="Calibri"/>
              </a:defRPr>
            </a:pPr>
            <a:r>
              <a:t>📊 Accreditation Reports &amp; Export Suite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On-demand generator for NBA SAR Criterion 3 and NAAC 2.6 dossiers with search filters, pagination, and multi-format download (CSV/JSON/PDF).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10 of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11. UML &amp; Process Workflow Design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Role Use Cases and OBE Attainment Process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700" b="1">
                <a:solidFill>
                  <a:srgbClr val="38BDF8"/>
                </a:solidFill>
                <a:latin typeface="Calibri"/>
              </a:defRPr>
            </a:pPr>
            <a:r>
              <a:t>👤 Role-Based Use Cases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Chief Administrator (Dean / HOD):</a:t>
            </a:r>
            <a:br/>
            <a:r>
              <a:t>  Sets academic year &amp; weights (40/60); Allocates faculty courses; Reviews approvals; Generates NBA SAR dossiers.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Teaching Faculty (Professors):</a:t>
            </a:r>
            <a:br/>
            <a:r>
              <a:t>  Views allocated subjects; Records internal CIE &amp; final SEE marks; Maps test questions to COs; Tracks class attendance.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Enrolled Students:</a:t>
            </a:r>
            <a:br/>
            <a:r>
              <a:t>  Accesses semester marksheet; Views SGPA/CGPA breakdowns; Downloads official PDF transcripts.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700" b="1">
                <a:solidFill>
                  <a:srgbClr val="D4AF37"/>
                </a:solidFill>
                <a:latin typeface="Calibri"/>
              </a:defRPr>
            </a:pPr>
            <a:r>
              <a:t>🔄 OBE Process Pipeline</a:t>
            </a:r>
          </a:p>
          <a:p>
            <a:pPr>
              <a:defRPr sz="1250">
                <a:solidFill>
                  <a:srgbClr val="E2E8F0"/>
                </a:solidFill>
                <a:latin typeface="Calibri"/>
              </a:defRPr>
            </a:pPr>
            <a:r>
              <a:t>1. Curriculum Setup: Define Course Outcomes (CO1..CO5) and credits.</a:t>
            </a:r>
          </a:p>
          <a:p>
            <a:pPr>
              <a:defRPr sz="1250">
                <a:solidFill>
                  <a:srgbClr val="E2E8F0"/>
                </a:solidFill>
                <a:latin typeface="Calibri"/>
              </a:defRPr>
            </a:pPr>
            <a:r>
              <a:t>2. Mark Entry: Record Continuous CIE and Final SEE exam scores.</a:t>
            </a:r>
          </a:p>
          <a:p>
            <a:pPr>
              <a:defRPr sz="1250">
                <a:solidFill>
                  <a:srgbClr val="E2E8F0"/>
                </a:solidFill>
                <a:latin typeface="Calibri"/>
              </a:defRPr>
            </a:pPr>
            <a:r>
              <a:t>3. Weighted Sum: Calculate Final Score = (Internal * 40%) + (External * 60%).</a:t>
            </a:r>
          </a:p>
          <a:p>
            <a:pPr>
              <a:defRPr sz="1250">
                <a:solidFill>
                  <a:srgbClr val="E2E8F0"/>
                </a:solidFill>
                <a:latin typeface="Calibri"/>
              </a:defRPr>
            </a:pPr>
            <a:r>
              <a:t>4. SGPA / CGPA: Compute semester GPA and cumulative CGPA.</a:t>
            </a:r>
          </a:p>
          <a:p>
            <a:pPr>
              <a:defRPr sz="1250">
                <a:solidFill>
                  <a:srgbClr val="E2E8F0"/>
                </a:solidFill>
                <a:latin typeface="Calibri"/>
              </a:defRPr>
            </a:pPr>
            <a:r>
              <a:t>5. Attainment &amp; POs: Map % students achieving &gt;= 75% to Washington Accord POs.</a:t>
            </a:r>
          </a:p>
          <a:p>
            <a:pPr>
              <a:defRPr sz="1250">
                <a:solidFill>
                  <a:srgbClr val="E2E8F0"/>
                </a:solidFill>
                <a:latin typeface="Calibri"/>
              </a:defRPr>
            </a:pPr>
            <a:r>
              <a:t>6. Instant Dossier: Export official PDF marksheet &amp; NBA Criterion 3 report.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11 of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12. Database Design &amp; Schema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Relational Schema Entities and Storage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2240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defRPr sz="1600" b="1">
                <a:solidFill>
                  <a:srgbClr val="38BDF8"/>
                </a:solidFill>
                <a:latin typeface="Calibri"/>
              </a:defRPr>
            </a:pPr>
            <a:r>
              <a:t>🗄️ users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Attributes: id (PK), name, email, role, department, designation, password_hash</a:t>
            </a:r>
          </a:p>
          <a:p>
            <a:pPr>
              <a:defRPr sz="1200">
                <a:solidFill>
                  <a:srgbClr val="FDE68A"/>
                </a:solidFill>
                <a:latin typeface="Calibri"/>
              </a:defRPr>
            </a:pPr>
            <a:r>
              <a:t>Purpose: Admin, Faculty, and Student accounts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17320"/>
            <a:ext cx="5394960" cy="2240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defRPr sz="1600" b="1">
                <a:solidFill>
                  <a:srgbClr val="60A5FA"/>
                </a:solidFill>
                <a:latin typeface="Calibri"/>
              </a:defRPr>
            </a:pPr>
            <a:r>
              <a:t>🗄️ courses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Attributes: code (PK), title, department, semester, credits, lectureHours, labHours</a:t>
            </a:r>
          </a:p>
          <a:p>
            <a:pPr>
              <a:defRPr sz="1200">
                <a:solidFill>
                  <a:srgbClr val="FDE68A"/>
                </a:solidFill>
                <a:latin typeface="Calibri"/>
              </a:defRPr>
            </a:pPr>
            <a:r>
              <a:t>Purpose: Curriculum catalog for 6 branches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94760"/>
            <a:ext cx="5394960" cy="2240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defRPr sz="1600" b="1">
                <a:solidFill>
                  <a:srgbClr val="D4AF37"/>
                </a:solidFill>
                <a:latin typeface="Calibri"/>
              </a:defRPr>
            </a:pPr>
            <a:r>
              <a:t>🗄️ mark_entries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Attributes: id (PK), studentId (FK), courseCode (FK), obtainedMarks, maxMarks</a:t>
            </a:r>
          </a:p>
          <a:p>
            <a:pPr>
              <a:defRPr sz="1200">
                <a:solidFill>
                  <a:srgbClr val="FDE68A"/>
                </a:solidFill>
                <a:latin typeface="Calibri"/>
              </a:defRPr>
            </a:pPr>
            <a:r>
              <a:t>Purpose: Assessment &amp; Examination records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794760"/>
            <a:ext cx="5394960" cy="2240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defRPr sz="1600" b="1">
                <a:solidFill>
                  <a:srgbClr val="4ADE80"/>
                </a:solidFill>
                <a:latin typeface="Calibri"/>
              </a:defRPr>
            </a:pPr>
            <a:r>
              <a:t>🗄️ copo_mappings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Attributes: id (PK), coCode (FK), poCode (PO1..PO12), correlationLevel (1, 2, 3)</a:t>
            </a:r>
          </a:p>
          <a:p>
            <a:pPr>
              <a:defRPr sz="1200">
                <a:solidFill>
                  <a:srgbClr val="FDE68A"/>
                </a:solidFill>
                <a:latin typeface="Calibri"/>
              </a:defRPr>
            </a:pPr>
            <a:r>
              <a:t>Purpose: Washington Accord 12-PO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12 of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13. User Interface — Governance &amp; Faculty Deck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Production Screen Captures: Command Center &amp; Workload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D4AF37"/>
                </a:solidFill>
                <a:latin typeface="Calibri"/>
              </a:defRPr>
            </a:pPr>
            <a:r>
              <a:t>🏛️ Admin Command Center &amp; Readiness Index</a:t>
            </a:r>
          </a:p>
        </p:txBody>
      </p:sp>
      <p:pic>
        <p:nvPicPr>
          <p:cNvPr id="5" name="Picture 4" descr="media_17908295125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5029200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2064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  <a:latin typeface="Calibri"/>
              </a:defRPr>
            </a:pPr>
            <a:r>
              <a:t>Displays registered students/faculty rosters, active courses, pending approvals, and NBA/NAAC readiness gauge (92%).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38BDF8"/>
                </a:solidFill>
                <a:latin typeface="Calibri"/>
              </a:defRPr>
            </a:pPr>
            <a:r>
              <a:t>👨‍🏫 Faculty Workload &amp; Course Allocation Deck</a:t>
            </a:r>
          </a:p>
        </p:txBody>
      </p:sp>
      <p:pic>
        <p:nvPicPr>
          <p:cNvPr id="8" name="Picture 7" descr="media_17908608486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874519"/>
            <a:ext cx="50292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12064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  <a:latin typeface="Calibri"/>
              </a:defRPr>
            </a:pPr>
            <a:r>
              <a:t>Dual-view allocation deck showing professor workload cards with contact hours, credit caps, and branch matrix switchers.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13 of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14. User Interface — Results &amp; Reports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Production Screen Captures: Results Accordion &amp; Reports Generator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4ADE80"/>
                </a:solidFill>
                <a:latin typeface="Calibri"/>
              </a:defRPr>
            </a:pPr>
            <a:r>
              <a:t>📋 Student Results &amp; Marksheet Accordion Deck</a:t>
            </a:r>
          </a:p>
        </p:txBody>
      </p:sp>
      <p:pic>
        <p:nvPicPr>
          <p:cNvPr id="5" name="Picture 4" descr="media_17908328371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5029200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2064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  <a:latin typeface="Calibri"/>
              </a:defRPr>
            </a:pPr>
            <a:r>
              <a:t>Student results deck grouping courses by student ID, calculating SGPA/CGPA, and providing one-click official PDF transcripts.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FDE68A"/>
                </a:solidFill>
                <a:latin typeface="Calibri"/>
              </a:defRPr>
            </a:pPr>
            <a:r>
              <a:t>📊 Accreditation &amp; Institutional Reports Generator</a:t>
            </a:r>
          </a:p>
        </p:txBody>
      </p:sp>
      <p:pic>
        <p:nvPicPr>
          <p:cNvPr id="8" name="Picture 7" descr="media_17908648006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874519"/>
            <a:ext cx="50292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12064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  <a:latin typeface="Calibri"/>
              </a:defRPr>
            </a:pPr>
            <a:r>
              <a:t>Generates NBA Criterion 3 &amp; NAAC 2.6 dossiers with client-side search, pagination, and multi-format CSV/JSON/PDF exports.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14 of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15. Testing Strategy &amp; Verification Results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Empirical Test Matrix and Quality Assurance Evidence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9441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926080"/>
                <a:gridCol w="5242255"/>
                <a:gridCol w="1645920"/>
              </a:tblGrid>
              <a:tr h="78638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F37"/>
                          </a:solidFill>
                          <a:latin typeface="Calibri"/>
                        </a:defRPr>
                      </a:pPr>
                      <a:r>
                        <a:t>Test ID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F37"/>
                          </a:solidFill>
                          <a:latin typeface="Calibri"/>
                        </a:defRPr>
                      </a:pPr>
                      <a:r>
                        <a:t>Test Scenario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F37"/>
                          </a:solidFill>
                          <a:latin typeface="Calibri"/>
                        </a:defRPr>
                      </a:pPr>
                      <a:r>
                        <a:t>Verified Outcome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F37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TC-01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Role Route Guards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Student blocked from accessing Admin console (/admin) and redirected.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PASSED ✅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TC-02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Dynamic OBE Weight Sync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Modifying CIE/SEE weights (40/60) immediately recalculates transcripts.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PASSED ✅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TC-03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SGPA / CGPA Calculation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Calculates weighted grade points divided by total credits with 2-decimal accuracy.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PASSED ✅</a:t>
                      </a:r>
                    </a:p>
                  </a:txBody>
                  <a:tcPr>
                    <a:solidFill>
                      <a:srgbClr val="101B38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TC-04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Production Build Check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Angular production bundle (ng build --prod) compiled with 0 errors.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PASSED ✅</a:t>
                      </a:r>
                    </a:p>
                  </a:txBody>
                  <a:tcPr>
                    <a:solidFill>
                      <a:srgbClr val="091024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440680"/>
            <a:ext cx="11094415" cy="868680"/>
          </a:xfrm>
          <a:prstGeom prst="roundRect">
            <a:avLst/>
          </a:prstGeom>
          <a:solidFill>
            <a:srgbClr val="091024"/>
          </a:solidFill>
          <a:ln w="1524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300" b="1">
                <a:solidFill>
                  <a:srgbClr val="FDE68A"/>
                </a:solidFill>
                <a:latin typeface="Calibri"/>
              </a:defRPr>
            </a:pPr>
            <a:r>
              <a:t>📊 Key Verified Performance Metrics: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• Production Compilation: Zero Errors (Angular 18 AOT)  • Sync Latency: &lt; 50ms across tabs  • 100% Passing Test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15 of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16. Technical Challenges &amp; Solutions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Key Engineering Roadblocks and Implemented Resolutions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94415" cy="1481328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28016" rIns="228600"/>
          <a:lstStyle/>
          <a:p>
            <a:pPr algn="ctr">
              <a:defRPr sz="1500" b="1">
                <a:solidFill>
                  <a:srgbClr val="38BDF8"/>
                </a:solidFill>
                <a:latin typeface="Calibri"/>
              </a:defRPr>
            </a:pPr>
            <a:r>
              <a:t>Challenge 1: Real-Time Cross-Tab State Sync</a:t>
            </a:r>
          </a:p>
          <a:p>
            <a:pPr>
              <a:defRPr sz="1250">
                <a:solidFill>
                  <a:srgbClr val="F87171"/>
                </a:solidFill>
                <a:latin typeface="Calibri"/>
              </a:defRPr>
            </a:pPr>
            <a:r>
              <a:t>• Problem: When an Admin updated global OBE weights (40/60) in one tab, other open tabs (Results, Marksheets) remained stale until manual refresh.</a:t>
            </a:r>
          </a:p>
          <a:p>
            <a:pPr>
              <a:defRPr sz="1250">
                <a:solidFill>
                  <a:srgbClr val="4ADE80"/>
                </a:solidFill>
                <a:latin typeface="Calibri"/>
              </a:defRPr>
            </a:pPr>
            <a:r>
              <a:t>✔ Resolution: Engineered a reactive SyncService with browser storage events and RxJS Subjects to broadcast MARKS_CHANGED events instantly across tabs.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017520"/>
            <a:ext cx="11094415" cy="1481328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28016" rIns="228600"/>
          <a:lstStyle/>
          <a:p>
            <a:pPr algn="ctr">
              <a:defRPr sz="1500" b="1">
                <a:solidFill>
                  <a:srgbClr val="D4AF37"/>
                </a:solidFill>
                <a:latin typeface="Calibri"/>
              </a:defRPr>
            </a:pPr>
            <a:r>
              <a:t>Challenge 2: Layout Width Overflow on Laptops</a:t>
            </a:r>
          </a:p>
          <a:p>
            <a:pPr>
              <a:defRPr sz="1250">
                <a:solidFill>
                  <a:srgbClr val="F87171"/>
                </a:solidFill>
                <a:latin typeface="Calibri"/>
              </a:defRPr>
            </a:pPr>
            <a:r>
              <a:t>• Problem: The Accreditation Reports table pushed past screen borders on standard 1366x768 laptop resolutions due to fixed 1200px container width.</a:t>
            </a:r>
          </a:p>
          <a:p>
            <a:pPr>
              <a:defRPr sz="1250">
                <a:solidFill>
                  <a:srgbClr val="4ADE80"/>
                </a:solidFill>
                <a:latin typeface="Calibri"/>
              </a:defRPr>
            </a:pPr>
            <a:r>
              <a:t>✔ Resolution: Refactored reports layout into a 100% fluid grid with custom scrollbar wrappers, compact badges, and client-side pagination (10/20/50).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617720"/>
            <a:ext cx="11094415" cy="1481328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28016" rIns="228600"/>
          <a:lstStyle/>
          <a:p>
            <a:pPr algn="ctr">
              <a:defRPr sz="1500" b="1">
                <a:solidFill>
                  <a:srgbClr val="4ADE80"/>
                </a:solidFill>
                <a:latin typeface="Calibri"/>
              </a:defRPr>
            </a:pPr>
            <a:r>
              <a:t>Challenge 3: Repetitive Student Rows in Results</a:t>
            </a:r>
          </a:p>
          <a:p>
            <a:pPr>
              <a:defRPr sz="1250">
                <a:solidFill>
                  <a:srgbClr val="F87171"/>
                </a:solidFill>
                <a:latin typeface="Calibri"/>
              </a:defRPr>
            </a:pPr>
            <a:r>
              <a:t>• Problem: The results page initially listed each course as a separate flat row, repeating student names 7-8 times and cluttering review.</a:t>
            </a:r>
          </a:p>
          <a:p>
            <a:pPr>
              <a:defRPr sz="1250">
                <a:solidFill>
                  <a:srgbClr val="4ADE80"/>
                </a:solidFill>
                <a:latin typeface="Calibri"/>
              </a:defRPr>
            </a:pPr>
            <a:r>
              <a:t>✔ Resolution: Transformed the interface into a Master-Detail Expandable Accordion Deck grouping courses under unique student cards with live SGPA/CGPA.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16 of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17. Team Contributions &amp; Roles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Individual Ownership and Architectural Contributions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2240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 rIns="228600"/>
          <a:lstStyle/>
          <a:p>
            <a:pPr algn="ctr">
              <a:defRPr sz="1500" b="1">
                <a:solidFill>
                  <a:srgbClr val="D4AF37"/>
                </a:solidFill>
                <a:latin typeface="Calibri"/>
              </a:defRPr>
            </a:pPr>
            <a:r>
              <a:t>👨‍💻 V. Krishna Vamsi  |  Project Lead &amp; Full-Stack Architect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Architected Angular 18 Single Page Application and reactive SyncService.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Implemented OBE Mathematical Engine (SGPA/CGPA, CO-PO Matrices).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Designed Master-Detail Student Results Deck &amp; Faculty Workload Deck.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17320"/>
            <a:ext cx="5394960" cy="2240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 rIns="228600"/>
          <a:lstStyle/>
          <a:p>
            <a:pPr algn="ctr">
              <a:defRPr sz="1500" b="1">
                <a:solidFill>
                  <a:srgbClr val="38BDF8"/>
                </a:solidFill>
                <a:latin typeface="Calibri"/>
              </a:defRPr>
            </a:pPr>
            <a:r>
              <a:t>🎨 Frontend &amp; UI/UX Specialist  |  UI Designer &amp; Component Engineer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Implemented modern Dark Luxury theme (Navy #0A1128, Gold #D4AF37).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Built responsive grid layouts, custom scrollbar wrappers, and status badges.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Engineered client-side pagination and real-time table search filters.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94760"/>
            <a:ext cx="5394960" cy="2240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 rIns="228600"/>
          <a:lstStyle/>
          <a:p>
            <a:pPr algn="ctr">
              <a:defRPr sz="1500" b="1">
                <a:solidFill>
                  <a:srgbClr val="4ADE80"/>
                </a:solidFill>
                <a:latin typeface="Calibri"/>
              </a:defRPr>
            </a:pPr>
            <a:r>
              <a:t>⚙️ Backend &amp; Persistence  |  API &amp; Schema Engineer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Structured relational database schema (Users, Courses, Marks, Mappings).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Designed RESTful endpoint integrations and error-handling interceptors.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Constructed client-side CSV and JSON export streams.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794760"/>
            <a:ext cx="5394960" cy="22402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 rIns="228600"/>
          <a:lstStyle/>
          <a:p>
            <a:pPr algn="ctr">
              <a:defRPr sz="1500" b="1">
                <a:solidFill>
                  <a:srgbClr val="60A5FA"/>
                </a:solidFill>
                <a:latin typeface="Calibri"/>
              </a:defRPr>
            </a:pPr>
            <a:r>
              <a:t>📝 QA &amp; Documentation  |  Testing &amp; Compliance Specialist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Formulated empirical test suite (Route guards, math formulas, builds).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Mapped curriculum requirements to Washington Accord 12 Graduate Attributes.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• Compiled NBA SAR Criterion 3 and NAAC 2.6 accreditation documentation.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17 of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18. Future Scope &amp; Technology Roadmap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Strategic Roadmap for Mobile and AI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46304"/>
          <a:lstStyle/>
          <a:p>
            <a:pPr algn="ctr">
              <a:defRPr sz="1550" b="1">
                <a:solidFill>
                  <a:srgbClr val="38BDF8"/>
                </a:solidFill>
                <a:latin typeface="Calibri"/>
              </a:defRPr>
            </a:pPr>
            <a:r>
              <a:t>📱 1. Cross-Platform Mobile Apps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Develop Flutter / React Native mobile applications for instant push notifications on marks, timetables, and attendance.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24328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46304"/>
          <a:lstStyle/>
          <a:p>
            <a:pPr algn="ctr">
              <a:defRPr sz="1550" b="1">
                <a:solidFill>
                  <a:srgbClr val="D4AF37"/>
                </a:solidFill>
                <a:latin typeface="Calibri"/>
              </a:defRPr>
            </a:pPr>
            <a:r>
              <a:t>🤖 2. Generative AI Exam Synthesis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Integrate LLM APIs to automatically generate university exam papers tagged with Bloom's Taxonomy levels mapped to Course Outcomes.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31336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46304"/>
          <a:lstStyle/>
          <a:p>
            <a:pPr algn="ctr">
              <a:defRPr sz="1550" b="1">
                <a:solidFill>
                  <a:srgbClr val="4ADE80"/>
                </a:solidFill>
                <a:latin typeface="Calibri"/>
              </a:defRPr>
            </a:pPr>
            <a:r>
              <a:t>📡 3. Biometric &amp; RFID Attendance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Connect classroom hardware RFID readers directly to the attendance engine for automated real-time presence logging.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38344"/>
            <a:ext cx="11094415" cy="1078992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46304"/>
          <a:lstStyle/>
          <a:p>
            <a:pPr algn="ctr">
              <a:defRPr sz="1550" b="1">
                <a:solidFill>
                  <a:srgbClr val="60A5FA"/>
                </a:solidFill>
                <a:latin typeface="Calibri"/>
              </a:defRPr>
            </a:pPr>
            <a:r>
              <a:t>🏛️ 4. Direct e-NBA Portal Upload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Build automated XML/JSON submission pipelines to upload validated SAR dossiers directly to national accreditation servers.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18 of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19. Conclusion &amp; Academic References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Executive Project Summary and Key Bibliography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700" b="1">
                <a:solidFill>
                  <a:srgbClr val="D4AF37"/>
                </a:solidFill>
                <a:latin typeface="Calibri"/>
              </a:defRPr>
            </a:pPr>
            <a:r>
              <a:t>🎯 Executive Conclusion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✔ Successfully built and deployed OBLMS, an Outcome-Based Learning Management System adhering to NBA Tier-1 and NAAC 2.6 standards.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✔ Eliminated manual calculation overhead by automating CIE/SEE weights (40/60), SGPA/CGPA transcripts, and 12-PO vectors.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✔ Delivered a luxury, responsive dark UI featuring dual-view faculty workload decks and expandable student marksheet accordions.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✔ Verified 100% production compilation readiness with zero errors on Angular 18.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17320"/>
            <a:ext cx="5394960" cy="47548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700" b="1">
                <a:solidFill>
                  <a:srgbClr val="38BDF8"/>
                </a:solidFill>
                <a:latin typeface="Calibri"/>
              </a:defRPr>
            </a:pPr>
            <a:r>
              <a:t>📚 Academic References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[1] National Board of Accreditation (NBA), "SAR Format for Tier-I Engineering Programs," New Delhi, 2023.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[2] National Assessment and Accreditation Council (NAAC), "Institutional Accreditation Manual," 2024.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[3] Spady, William G., "Outcome-Based Education: Critical Issues and Answers," AASA, Arlington, VA.</a:t>
            </a:r>
          </a:p>
          <a:p>
            <a:pPr>
              <a:defRPr sz="1300">
                <a:solidFill>
                  <a:srgbClr val="E2E8F0"/>
                </a:solidFill>
                <a:latin typeface="Calibri"/>
              </a:defRPr>
            </a:pPr>
            <a:r>
              <a:t>[4] Angular Framework Team, "Angular v18 Standalone Architecture Documentation," Google,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19 of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solidFill>
              <a:srgbClr val="0A1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86868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20. Viva &amp; Demonstration Checklist</a:t>
            </a:r>
          </a:p>
          <a:p>
            <a:pPr>
              <a:defRPr sz="1300">
                <a:solidFill>
                  <a:srgbClr val="FDE68A"/>
                </a:solidFill>
                <a:latin typeface="Calibri"/>
              </a:defRPr>
            </a:pPr>
            <a:r>
              <a:t>Verification Checklist for Final Viva Defense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146304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 rIns="228600"/>
          <a:lstStyle/>
          <a:p>
            <a:pPr algn="ctr">
              <a:defRPr sz="1600" b="1">
                <a:solidFill>
                  <a:srgbClr val="4ADE80"/>
                </a:solidFill>
                <a:latin typeface="Calibri"/>
              </a:defRPr>
            </a:pPr>
            <a:r>
              <a:t>✔ 1. Live Application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Running at http://localhost:4200 with zero console errors.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17320"/>
            <a:ext cx="5394960" cy="146304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 rIns="228600"/>
          <a:lstStyle/>
          <a:p>
            <a:pPr algn="ctr">
              <a:defRPr sz="1600" b="1">
                <a:solidFill>
                  <a:srgbClr val="38BDF8"/>
                </a:solidFill>
                <a:latin typeface="Calibri"/>
              </a:defRPr>
            </a:pPr>
            <a:r>
              <a:t>✔ 2. Role-Based Portals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Admin Console (/admin), Faculty (/faculty), Student (/students).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17520"/>
            <a:ext cx="5394960" cy="146304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 rIns="228600"/>
          <a:lstStyle/>
          <a:p>
            <a:pPr algn="ctr">
              <a:defRPr sz="1600" b="1">
                <a:solidFill>
                  <a:srgbClr val="D4AF37"/>
                </a:solidFill>
                <a:latin typeface="Calibri"/>
              </a:defRPr>
            </a:pPr>
            <a:r>
              <a:t>✔ 3. Dynamic Faculty Deck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Tested dual-view workload deck with contact hours and branch matrix.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017520"/>
            <a:ext cx="5394960" cy="146304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 rIns="228600"/>
          <a:lstStyle/>
          <a:p>
            <a:pPr algn="ctr">
              <a:defRPr sz="1600" b="1">
                <a:solidFill>
                  <a:srgbClr val="4ADE80"/>
                </a:solidFill>
                <a:latin typeface="Calibri"/>
              </a:defRPr>
            </a:pPr>
            <a:r>
              <a:t>✔ 4. Expandable Marksheets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Demonstrated master-detail accordion deck with instant PDF print.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617720"/>
            <a:ext cx="5394960" cy="146304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 rIns="228600"/>
          <a:lstStyle/>
          <a:p>
            <a:pPr algn="ctr">
              <a:defRPr sz="1600" b="1">
                <a:solidFill>
                  <a:srgbClr val="60A5FA"/>
                </a:solidFill>
                <a:latin typeface="Calibri"/>
              </a:defRPr>
            </a:pPr>
            <a:r>
              <a:t>✔ 5. Accreditation Reports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Live query generation of NBA SAR Criterion 3 and CSV/JSON export.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617720"/>
            <a:ext cx="5394960" cy="1463040"/>
          </a:xfrm>
          <a:prstGeom prst="roundRect">
            <a:avLst/>
          </a:prstGeom>
          <a:solidFill>
            <a:srgbClr val="101B38"/>
          </a:solidFill>
          <a:ln w="15240">
            <a:solidFill>
              <a:srgbClr val="263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 rIns="228600"/>
          <a:lstStyle/>
          <a:p>
            <a:pPr algn="ctr">
              <a:defRPr sz="1600" b="1">
                <a:solidFill>
                  <a:srgbClr val="FDE68A"/>
                </a:solidFill>
                <a:latin typeface="Calibri"/>
              </a:defRPr>
            </a:pPr>
            <a:r>
              <a:t>✔ 6. Production Build</a:t>
            </a:r>
          </a:p>
          <a:p>
            <a:pPr>
              <a:defRPr sz="1350">
                <a:solidFill>
                  <a:srgbClr val="E2E8F0"/>
                </a:solidFill>
                <a:latin typeface="Calibri"/>
              </a:defRPr>
            </a:pPr>
            <a:r>
              <a:t>npx ng build --configuration=production passed with 0 errors.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9441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OBLMS — Outcome-Based Learning Management System  |  Software Technology Project  |  Slide 20 of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